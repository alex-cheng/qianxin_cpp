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303848"/>
                </a:solidFill>
              </a:defRPr>
            </a:pPr>
            <a:r>
              <a:t>C++20 Ranges</a:t>
            </a:r>
          </a:p>
          <a:p>
            <a:pPr algn="ctr">
              <a:defRPr sz="2000" b="0">
                <a:solidFill>
                  <a:srgbClr val="586478"/>
                </a:solidFill>
              </a:defRPr>
            </a:pPr>
            <a:r>
              <a:t>用管道思维打开编程新模式</a:t>
            </a:r>
            <a:br/>
            <a:br/>
            <a:r>
              <a:t>现代C++的发展道路 · 第六篇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迭代器对之痛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传统方式：4个临时容器，多次循环，逻辑零散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每个步骤都要 begin()/end() —— 像拿着两把钥匙开一把锁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中间结果必须存到临时容器，频繁分配内存、拷贝数据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逻辑流淌在各行之间，无法一眼看出数据流向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Ranges：一行代码搞定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4B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传统写法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vector&lt;int&gt; temp_even;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for (it...) { if (...) push_back; }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vector&lt;int&gt; temp_sq;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for (it...) { push_back(*it * *it); }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...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4 个临时容器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Ranges 管道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auto result = data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filter(even)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transform(square)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take(3)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reverse;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零临时容器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核心概念 1：Range &amp;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range：提供了 begin 迭代器和 end 哨兵的类型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—— 鸭子类型：能迭代的就是 range（vector/list/map/C数组）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view：O(1) 拷贝/移动/赋值的 range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—— View = 数据上的"眼镜"：数据不动，换角度看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大多数 view 还具备：惰性求值 + 不拥有数据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核心概念 2：范围适配器 &amp; 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范围适配器：函数对象，通过 | 与 range 组合产生 view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常用适配器：filter、transform、take/drop、reverse、split/join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可定制化：同一适配器，传不同逻辑，产生不同行为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范围工厂：不需要输入 range，自己产生数据序列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典型工厂：iota（等差序列）、single（单元素）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核心概念 3：Range 版算法 &amp;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std::ranges::sort(v) —— 直接传容器，不再需要 begin/end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彻底杜绝迭代器失配：一个参数，不可能配错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投影（Projection）语法糖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std::ranges::sort(people, {}, &amp;Person::age)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将"取什么"与"怎么比"解耦，所有 ranges 算法均支持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管道模式：跨语言共识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管道模式：拆分为独立、可组合的阶段，数据依次流过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四要素：数据源 → 管道(|) → 阶段(filter/transform) → 汇(遍历)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跨语言实践：Java Stream、C# LINQ、Rust Iterator、Python itertools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Shell 管道：cat | grep | wc -l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声明式组合替代指令式循环 —— 现代编程语言的共同选择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优势 1：声明式编程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4B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指令式 —— 怎么干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vector&lt;int&gt; temp;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for (auto&amp; x : data)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if (x &gt; 0)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  temp.push_back(x*2);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for (auto v : temp)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result.push_back(...);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声明式 —— 干什么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auto result = data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filter(x&gt;0)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transform(x*2)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  | take(5);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代码即数据流图</a:t>
            </a:r>
          </a:p>
          <a:p>
            <a:pPr>
              <a:spcAft>
                <a:spcPts val="700"/>
              </a:spcAft>
              <a:defRPr sz="1500" b="0">
                <a:solidFill>
                  <a:srgbClr val="E6EBF0"/>
                </a:solidFill>
              </a:defRPr>
            </a:pPr>
            <a:r>
              <a:t>从上到下一读就懂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优势 2：性能 —— 零额外开销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视图组合无中间容器：管道串联只产出轻量 view，不分配不拷贝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单次遍历替代多次遍历：每个元素一次走完整条管道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编译期内联展开 —— 零运行时开销，典型的 C++ 零成本抽象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C++23 ranges::to&lt;T&gt;：惰性加工到持久化存储，一行代码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实测数据：千万级数据 11 倍加速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303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传统写法</a:t>
                      </a:r>
                    </a:p>
                  </a:txBody>
                  <a:tcPr>
                    <a:solidFill>
                      <a:srgbClr val="303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Ranges 管道</a:t>
                      </a:r>
                    </a:p>
                  </a:txBody>
                  <a:tcPr>
                    <a:solidFill>
                      <a:srgbClr val="303848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603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55 ms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中间容器</a:t>
                      </a:r>
                    </a:p>
                  </a:txBody>
                  <a:tcPr>
                    <a:solidFill>
                      <a:srgbClr val="4B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3 个（~1450万个double）</a:t>
                      </a:r>
                    </a:p>
                  </a:txBody>
                  <a:tcPr>
                    <a:solidFill>
                      <a:srgbClr val="4B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0 个</a:t>
                      </a:r>
                    </a:p>
                  </a:txBody>
                  <a:tcPr>
                    <a:solidFill>
                      <a:srgbClr val="4B556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遍历次数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3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1 次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加速比</a:t>
                      </a:r>
                    </a:p>
                  </a:txBody>
                  <a:tcPr>
                    <a:solidFill>
                      <a:srgbClr val="4B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4B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BF0"/>
                          </a:solidFill>
                        </a:defRPr>
                      </a:pPr>
                      <a:r>
                        <a:t>11.0×</a:t>
                      </a:r>
                    </a:p>
                  </a:txBody>
                  <a:tcPr>
                    <a:solidFill>
                      <a:srgbClr val="4B556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常见陷阱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悬垂引用：view 不拥有数据，源 range 销毁即失效 → 用 ranges::to 物化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const 语义陷阱：给 view 加 const 可能导致编译失败 → 对源数据加 const</a:t>
            </a:r>
          </a:p>
          <a:p>
            <a:pPr>
              <a:spcAft>
                <a:spcPts val="900"/>
              </a:spcAft>
              <a:defRPr sz="1700" b="0">
                <a:solidFill>
                  <a:srgbClr val="E6EBF0"/>
                </a:solidFill>
              </a:defRPr>
            </a:pPr>
            <a:r>
              <a:t>一次性消费：输入流 view 只能遍历一次 → 先物化到容器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97135" cy="4114800"/>
          </a:xfrm>
          <a:prstGeom prst="roundRect">
            <a:avLst/>
          </a:prstGeom>
          <a:solidFill>
            <a:srgbClr val="4B5569"/>
          </a:solidFill>
          <a:ln w="19050">
            <a:solidFill>
              <a:srgbClr val="58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0">
                <a:solidFill>
                  <a:srgbClr val="586478"/>
                </a:solidFill>
              </a:defRPr>
            </a:pPr>
            <a:r>
              <a:t>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816833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E6EBF0"/>
                </a:solidFill>
              </a:defRPr>
            </a:pPr>
            <a:r>
              <a:t>Ranges 让你用数据流代替控制流，用意图代替步骤。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389120"/>
            <a:ext cx="81683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0">
                <a:solidFill>
                  <a:srgbClr val="AAB4C3"/>
                </a:solidFill>
              </a:defRPr>
            </a:pPr>
            <a:r>
              <a:t>— —— C++20 Ranges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AB4C3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4C3"/>
                </a:solidFill>
              </a:defRPr>
            </a:pPr>
            <a:r>
              <a:t>谦信CPP · C++20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从"怎么做"到"做什么"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6EBF0"/>
                </a:solidFill>
              </a:defRPr>
            </a:pPr>
            <a:r>
              <a:t>声明式管道替代指令式循环</a:t>
            </a:r>
          </a:p>
          <a:p>
            <a:pPr>
              <a:spcAft>
                <a:spcPts val="1000"/>
              </a:spcAft>
              <a:defRPr sz="1700" b="0">
                <a:solidFill>
                  <a:srgbClr val="E6EBF0"/>
                </a:solidFill>
              </a:defRPr>
            </a:pPr>
            <a:r>
              <a:t>视图思维替代容器思维</a:t>
            </a:r>
          </a:p>
          <a:p>
            <a:pPr>
              <a:spcAft>
                <a:spcPts val="1000"/>
              </a:spcAft>
              <a:defRPr sz="1700" b="0">
                <a:solidFill>
                  <a:srgbClr val="E6EBF0"/>
                </a:solidFill>
              </a:defRPr>
            </a:pPr>
            <a:r>
              <a:t>惰性求值替代立即计算</a:t>
            </a:r>
          </a:p>
          <a:p>
            <a:pPr>
              <a:spcAft>
                <a:spcPts val="1000"/>
              </a:spcAft>
              <a:defRPr sz="1700" b="0">
                <a:solidFill>
                  <a:srgbClr val="E6EBF0"/>
                </a:solidFill>
              </a:defRPr>
            </a:pPr>
            <a:r>
              <a:t>管道模式：跨越语言边界的通用范式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58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读完本文，你将获得一种新的技能——在数据处理场景中，用声明式管道替代指令式循环。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