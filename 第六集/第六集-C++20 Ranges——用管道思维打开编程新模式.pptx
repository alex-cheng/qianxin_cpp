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ranges-cover-art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449884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8848" y="0"/>
            <a:ext cx="27432" cy="685800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85232" y="204825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E566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85232" y="25603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E566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从哲学到实践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285232" y="3182112"/>
            <a:ext cx="62179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第六篇：C++20 Ranges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285232" y="3675888"/>
            <a:ext cx="62179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——用管道思维打开编程新模式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285232" y="473659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E566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用数据流代替控制流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本集要解决什么问题？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一个看似简单的数据处理任务，怎样写得既清晰又高效？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给定数据集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EA8B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{ 1, 3, 2, 8, 7, 4, 6, 5 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1920240"/>
            <a:ext cx="1481328" cy="594360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0792" y="209397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过滤偶数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31536" y="2093976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79008" y="1920240"/>
            <a:ext cx="1481328" cy="594360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09397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每个数平方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78624" y="2093976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6096" y="1920240"/>
            <a:ext cx="1481328" cy="594360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44968" y="209397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取前 3 个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25712" y="2093976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73184" y="1920240"/>
            <a:ext cx="1481328" cy="59436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92056" y="209397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倒序输出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971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02A3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目标输出：16 64 4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40080" y="3867912"/>
            <a:ext cx="82296" cy="82296"/>
          </a:xfrm>
          <a:prstGeom prst="ellipse">
            <a:avLst/>
          </a:prstGeom>
          <a:solidFill>
            <a:srgbClr val="EA8B00"/>
          </a:solidFill>
          <a:ln w="12700">
            <a:solidFill>
              <a:srgbClr val="EA8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79476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今天的重点：不只学标准库工具，更要学会把“控制流”换成“数据流”。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306824"/>
            <a:ext cx="82296" cy="82296"/>
          </a:xfrm>
          <a:prstGeom prst="ellipse">
            <a:avLst/>
          </a:prstGeom>
          <a:solidFill>
            <a:srgbClr val="EA8B00"/>
          </a:solidFill>
          <a:ln w="12700">
            <a:solidFill>
              <a:srgbClr val="EA8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233672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结果应该清楚地展示处理意图，而不是被临时变量和循环细节淹没。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Ranges 的价值不只是少写代码，而是让处理过程直接呈现为数据流。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传统写法（一）：过滤与平方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能做什么很强大；但当多个步骤串起来，代码会迅速膨胀。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6537960" cy="393192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709928"/>
            <a:ext cx="62087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传统写法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58952" y="1929384"/>
            <a:ext cx="6208776" cy="3511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std::vector&lt;int&gt; data{1, 3, 2, 8, 7, 4, 6, 5};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std::vector&lt;int&gt; temp_even;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temp_even.reserve(data.size());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for (auto it = data.begin(); it != data.end(); ++it) {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if (*it % 2 == 0) temp_even.push_back(*it);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}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std::vector&lt;int&gt; temp_squared;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temp_squared.reserve(temp_even.size());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for (auto it = temp_even.begin(); it != temp_even.end(); ++it) {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temp_squared.push_back((*it) * (*it));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}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498080" y="160020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1600200"/>
            <a:ext cx="3703320" cy="9144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80136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这里已经出现的成本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167128"/>
            <a:ext cx="3337560" cy="758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① 两个临时容器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② 两轮完整遍历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③ 业务意图被迭代器操作遮住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498080" y="3310128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3310128"/>
            <a:ext cx="3703320" cy="91440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351129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“两把钥匙开一把锁”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0" y="3877056"/>
            <a:ext cx="3337560" cy="758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传统算法常要同时传入 begin()/end()。算法没问题，但组合多个步骤时书写负担更明显。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传统写法能完成任务，但数据处理意图被临时状态和控制流遮住。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传统写法（二）：取前三、倒序、输出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每增加一个处理阶段，就增加一段循环、一个边界条件或一个临时结果。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6995160" cy="411480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682496"/>
            <a:ext cx="66659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传统写法</a:t>
            </a:r>
            <a:endParaRPr lang="zh-CN" altLang="en-US" sz="850" b="1" dirty="0">
              <a:solidFill>
                <a:srgbClr val="F6C56C"/>
              </a:solidFill>
              <a:latin typeface="Menlo" panose="020B0609030804020204" pitchFamily="34" charset="0"/>
              <a:ea typeface="Menlo" panose="020B0609030804020204" pitchFamily="34" charset="-122"/>
              <a:cs typeface="Menlo" panose="020B06090308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8952" y="1901952"/>
            <a:ext cx="6665976" cy="36941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std::vector&lt;int&gt; temp_first_three;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if (temp_squared.size() &gt;= 3) {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temp_first_three.push_back(temp_squared[0]);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temp_first_three.push_back(temp_squared[1]);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temp_first_three.push_back(temp_squared[2]);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} else {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for (unsigned i = 0; i &lt; temp_squared.size(); ++i)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    temp_first_three.push_back(temp_squared[i]);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}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std::vector&lt;int&gt; result;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for (int i = static_cast&lt;int&gt;(temp_first_three.size()) - 1; i &gt;= 0; --i)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result.push_back(temp_first_three[i]);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for (int x : result) std::cout &lt;&lt; x &lt;&lt; ' ';  // 16 64 4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909560" y="1600200"/>
            <a:ext cx="3291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1600200"/>
            <a:ext cx="3291840" cy="91440"/>
          </a:xfrm>
          <a:prstGeom prst="rect">
            <a:avLst/>
          </a:prstGeom>
          <a:solidFill>
            <a:srgbClr val="C95C4A"/>
          </a:solidFill>
          <a:ln w="12700">
            <a:solidFill>
              <a:srgbClr val="C95C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80136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最终代价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92440" y="2167128"/>
            <a:ext cx="2926080" cy="11704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4 个临时容器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多次遍历与拷贝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手工边界检查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读者必须追踪状态变化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909560" y="3675888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3675888"/>
            <a:ext cx="3291840" cy="91440"/>
          </a:xfrm>
          <a:prstGeom prst="rect">
            <a:avLst/>
          </a:prstGeom>
          <a:solidFill>
            <a:srgbClr val="3C8A78"/>
          </a:solidFill>
          <a:ln w="12700">
            <a:solidFill>
              <a:srgbClr val="3C8A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387705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问题不在于循环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4242816"/>
            <a:ext cx="2926080" cy="758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循环仍是 C++ 的基本工具；问题是“筛选 → 变换 → 裁剪”这种数据流水线，不应靠分散状态表达。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当任务本质是连续的数据变换时，代码应该把“步骤链”作为主角。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同一任务：C++20 Ranges 管道解法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从上到下读代码，就是数据从左到右流经的处理步骤。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7040880" cy="391363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682496"/>
            <a:ext cx="671169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 Ranges </a:t>
            </a:r>
            <a:r>
              <a:rPr lang="zh-CN" alt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新</a:t>
            </a:r>
            <a:r>
              <a:rPr lang="zh-CN" alt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写法</a:t>
            </a:r>
            <a:endParaRPr lang="zh-CN" altLang="en-US" sz="850" b="1" dirty="0">
              <a:solidFill>
                <a:srgbClr val="F6C56C"/>
              </a:solidFill>
              <a:latin typeface="Menlo" panose="020B0609030804020204" pitchFamily="34" charset="0"/>
              <a:ea typeface="Menlo" panose="020B0609030804020204" pitchFamily="34" charset="-122"/>
              <a:cs typeface="Menlo" panose="020B06090308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8952" y="1901952"/>
            <a:ext cx="6711696" cy="34930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std::vector&lt;int&gt; data{1, 3, 2, 8, 7, 4, 6, 5};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auto result = data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| std::views::filter([](int x) { return x % 2 == 0; })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| std::views::transform([](int x) { return x * x; })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| std::views::take(3)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| std::views::reverse;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for (int x : result)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std::cout &lt;&lt; x &lt;&lt; ' ';  // 16 64 4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001000" y="1600200"/>
            <a:ext cx="3127248" cy="685800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4736" y="17373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filter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217152" y="1737360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只保留偶数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2532888"/>
            <a:ext cx="3127248" cy="685800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267004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17152" y="2670048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将元素平方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3465576"/>
            <a:ext cx="3127248" cy="685800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360273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take(3)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17152" y="3602736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取前三个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4398264"/>
            <a:ext cx="3127248" cy="68580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4736" y="4535424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reverse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17152" y="4535424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反转观察顺序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5559552"/>
            <a:ext cx="74980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result 是一个 View，而不是立即生成的 std::vector&lt;int&gt;。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管道将“过滤、变换、裁剪、反转”组合成一个可读的声明式表达式。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逐元素看见管道如何工作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管道的每个阶段通常按需工作；最终遍历 result 时才开始消费数据。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645920"/>
            <a:ext cx="1188720" cy="438912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682496"/>
            <a:ext cx="10424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输入元素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1645920"/>
            <a:ext cx="1554480" cy="438912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1682496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filter：偶数？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645920"/>
            <a:ext cx="1554480" cy="438912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682496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transform：平方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1645920"/>
            <a:ext cx="1508760" cy="438912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1682496"/>
            <a:ext cx="136245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take：保留？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1645920"/>
            <a:ext cx="1965960" cy="438912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682496"/>
            <a:ext cx="181965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reverse 后输出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2084832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121408"/>
            <a:ext cx="10424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2084832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672" y="2121408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否 → 丢弃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2084832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2121408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2084832"/>
            <a:ext cx="1508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121408"/>
            <a:ext cx="136245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2084832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2121408"/>
            <a:ext cx="181965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2523744"/>
            <a:ext cx="118872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2560320"/>
            <a:ext cx="10424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2523744"/>
            <a:ext cx="15544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47672" y="2560320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29000" y="2523744"/>
            <a:ext cx="15544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2560320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2523744"/>
            <a:ext cx="150876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6632" y="2560320"/>
            <a:ext cx="136245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 1 个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2523744"/>
            <a:ext cx="196596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2560320"/>
            <a:ext cx="181965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16（最后输出）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" y="2962656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" y="2999232"/>
            <a:ext cx="10424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296265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47672" y="2999232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是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429000" y="296265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02152" y="2999232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64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83480" y="2962656"/>
            <a:ext cx="1508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56632" y="2999232"/>
            <a:ext cx="136245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 2 个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92240" y="2962656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2999232"/>
            <a:ext cx="181965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64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5800" y="3401568"/>
            <a:ext cx="118872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" y="3438144"/>
            <a:ext cx="10424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874520" y="3401568"/>
            <a:ext cx="15544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47672" y="3438144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是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429000" y="3401568"/>
            <a:ext cx="15544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02152" y="3438144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16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983480" y="3401568"/>
            <a:ext cx="150876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56632" y="3438144"/>
            <a:ext cx="136245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 3 个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92240" y="3401568"/>
            <a:ext cx="196596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65392" y="3438144"/>
            <a:ext cx="181965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4（最先输出）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3232" y="4297680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前 3 个通过 filter 的元素：2、8、4  →  平方：4、64、16  →  reverse：16、64、4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713232" y="4846320"/>
            <a:ext cx="10515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6112" y="5001768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注意：reverse 改变的是 View 的遍历顺序；上游 data 本身并没有被就地修改。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管道是按元素串行协作的，而不是每一步都先生成一份完整新容器。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从函数嵌套到管道思维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管道模式并非 C++ 独创，而是一种让组合顺着业务方向阅读的通用模式。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4800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37360"/>
            <a:ext cx="4800600" cy="91440"/>
          </a:xfrm>
          <a:prstGeom prst="rect">
            <a:avLst/>
          </a:prstGeom>
          <a:solidFill>
            <a:srgbClr val="F3A08B"/>
          </a:solidFill>
          <a:ln w="12700">
            <a:solidFill>
              <a:srgbClr val="F3A08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3852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函数嵌套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304288"/>
            <a:ext cx="4434840" cy="16733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f(g(h(x)))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从内向外阅读；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在中间插入步骤时需要拆括号。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897880" y="1737360"/>
            <a:ext cx="4800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97880" y="1737360"/>
            <a:ext cx="4800600" cy="91440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93852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管道表达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2304288"/>
            <a:ext cx="4434840" cy="16733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x | h | g | f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从左向右阅读；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在任意位置插入 | new_op。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932688" y="464515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2A34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跨语言类比：cat file | grep "err" | wc -l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2688" y="5074920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数据源   →   阶段   →   阶段   →   汇（消费结果）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管道让代码顺着业务逻辑方向阅读和扩展。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Ranges 核心地图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Ranges 不是单一功能，而是一套“范围 + 组合 + 约束”的标准库体系。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901952" cy="1417320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029968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0664" y="246888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可迭代的数据范围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有 begin() 与 end()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14600" y="2414016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862072" y="1828800"/>
            <a:ext cx="1901952" cy="1417320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2029968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08376" y="246888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轻量的范围观察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通常不拥有数据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2312" y="2414016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129784" y="1828800"/>
            <a:ext cx="1901952" cy="141732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2029968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Adaptor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76088" y="246888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filter / transform 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用于组合视图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50024" y="2414016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97496" y="1828800"/>
            <a:ext cx="1901952" cy="1417320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029968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Algorithm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43800" y="246888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sort / find 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直接接受 Range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17736" y="2414016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665208" y="1828800"/>
            <a:ext cx="1901952" cy="1417320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11512" y="2029968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Projection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11512" y="246888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决定“取什么键”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与比较逻辑解耦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9808" y="4142232"/>
            <a:ext cx="82296" cy="82296"/>
          </a:xfrm>
          <a:prstGeom prst="ellipse">
            <a:avLst/>
          </a:prstGeom>
          <a:solidFill>
            <a:srgbClr val="EA8B00"/>
          </a:solidFill>
          <a:ln w="12700">
            <a:solidFill>
              <a:srgbClr val="EA8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069080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vector、list、map 等标准容器天然都是 Range。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" y="4581144"/>
            <a:ext cx="82296" cy="82296"/>
          </a:xfrm>
          <a:prstGeom prst="ellipse">
            <a:avLst/>
          </a:prstGeom>
          <a:solidFill>
            <a:srgbClr val="EA8B00"/>
          </a:solidFill>
          <a:ln w="12700">
            <a:solidFill>
              <a:srgbClr val="EA8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4507992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 关注行为：能否 begin/end；不关心它是否继承某个基类。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先把数据看成 Range，再决定用 View 组合、用 Algorithm 消费。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 Concept：用行为而非继承判断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Concept 把“我接受什么样的对象”变成清晰、可检查的编译期约束。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627632"/>
            <a:ext cx="5715000" cy="329184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37360"/>
            <a:ext cx="53858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56816"/>
            <a:ext cx="5385816" cy="28712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#include &lt;ranges&gt;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template &lt;std::ranges::range R&gt;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void print_all(R&amp;&amp; r) {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for (auto&amp;&amp; x : r) {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    std::cout &lt;&lt; x &lt;&lt; ' ';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}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}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812280" y="1627632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1627632"/>
            <a:ext cx="4251960" cy="91440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82880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 的最低要求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219456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类型能提供 begin</a:t>
            </a:r>
            <a:r>
              <a:rPr lang="zh-CN" alt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迭代器</a:t>
            </a: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 与 end</a:t>
            </a:r>
            <a:r>
              <a:rPr lang="zh-CN" alt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哨兵</a:t>
            </a: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，就可以被当作一个范围处理。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812280" y="294436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2944368"/>
            <a:ext cx="4251960" cy="91440"/>
          </a:xfrm>
          <a:prstGeom prst="rect">
            <a:avLst/>
          </a:prstGeom>
          <a:solidFill>
            <a:srgbClr val="3C8A78"/>
          </a:solidFill>
          <a:ln w="12700">
            <a:solidFill>
              <a:srgbClr val="3C8A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145536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“鸭子类型”式思路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3511296"/>
            <a:ext cx="3886200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不关心继承关系；只要表现得像 Range（可迭代），就满足该 Concept。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Concept 让“可迭代”的接口要求成为明确的编译期契约。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View：数据上的一副“眼镜”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数据不移动，只改变观察数据的方式：过滤、变换、反转……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682496"/>
            <a:ext cx="3246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682496"/>
            <a:ext cx="3246120" cy="9144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883664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std::vector&lt;int&gt;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249424"/>
            <a:ext cx="2880360" cy="1490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拥有元素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复制通常 O(n)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是容器，也是 Range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不是 View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4462272" y="1682496"/>
            <a:ext cx="3246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2272" y="1682496"/>
            <a:ext cx="3246120" cy="91440"/>
          </a:xfrm>
          <a:prstGeom prst="rect">
            <a:avLst/>
          </a:prstGeom>
          <a:solidFill>
            <a:srgbClr val="F6C56C"/>
          </a:solidFill>
          <a:ln w="12700">
            <a:solidFill>
              <a:srgbClr val="F6C56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883664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std::string_view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5152" y="2249424"/>
            <a:ext cx="2880360" cy="1490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不拥有字符串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只保存指针 + 长度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复制通常 O(1)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是轻量 View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266176" y="1682496"/>
            <a:ext cx="3246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1682496"/>
            <a:ext cx="3246120" cy="91440"/>
          </a:xfrm>
          <a:prstGeom prst="rect">
            <a:avLst/>
          </a:prstGeom>
          <a:solidFill>
            <a:srgbClr val="3C8A78"/>
          </a:solidFill>
          <a:ln w="12700">
            <a:solidFill>
              <a:srgbClr val="3C8A7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9056" y="1883664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filter_view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49056" y="2249424"/>
            <a:ext cx="2880360" cy="1490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引用/包装上游 Range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保存谓词等少量状态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遍历时决定哪些元素可见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2A3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 = 数据上的一副眼镜：换一副镜片，看到的形状不同；底层数据仍是同一份。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View 通常轻量且不拥有数据；它描述“怎样看”，而不是“再存一份”。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非拥有与惰性求值：两个相关但不同的概念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非拥有回答“数据归谁”；惰性求值回答“什么时候执行”。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572768"/>
            <a:ext cx="6583680" cy="36118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625449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04672" y="1901952"/>
            <a:ext cx="6254496" cy="3191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auto view = data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| std::views::transform([](int x) {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    std::cout &lt;&lt; "transform " &lt;&lt; x &lt;&lt; '\n';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    return x * 2;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});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此处尚未输出：只是声明了 view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for (int x : view) std::cout &lt;&lt; x &lt;&lt; '\n';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遍历时才输出 transform 1、transform 2……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571232" y="1600200"/>
            <a:ext cx="3520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71232" y="1600200"/>
            <a:ext cx="3520440" cy="9144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4112" y="180136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非拥有（Non-owning）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54112" y="2167128"/>
            <a:ext cx="3154680" cy="6675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 通常只观察 data；若 data 已销毁，view 可能悬垂。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571232" y="3246120"/>
            <a:ext cx="3520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71232" y="3246120"/>
            <a:ext cx="3520440" cy="91440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54112" y="344728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惰性（Lazy）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54112" y="3813048"/>
            <a:ext cx="3154680" cy="6675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创建适配器链时通常不计算；消费元素时，元素才流经各阶段。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View 解决“怎么表示”，惰性求值解决“何时计算”；不要把两者混为一谈。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常用 Range Adaptor：把阶段接成一条管道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每个 adaptor 只做好一类变换；组合它们就能表达复杂的数据处理。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2286000" cy="502920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91056"/>
            <a:ext cx="213969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Adaptor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44368" y="1554480"/>
            <a:ext cx="2834640" cy="502920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591056"/>
            <a:ext cx="268833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作用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79008" y="1554480"/>
            <a:ext cx="4297680" cy="502920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591056"/>
            <a:ext cx="415137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示例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205740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093976"/>
            <a:ext cx="213969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views::filter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44368" y="205740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093976"/>
            <a:ext cx="268833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过滤元素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9008" y="2057400"/>
            <a:ext cx="4297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093976"/>
            <a:ext cx="415137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 | filter(pred)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2560320"/>
            <a:ext cx="22860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596896"/>
            <a:ext cx="213969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views::transform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44368" y="2560320"/>
            <a:ext cx="283464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2596896"/>
            <a:ext cx="268833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映射变换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79008" y="2560320"/>
            <a:ext cx="429768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2596896"/>
            <a:ext cx="415137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 | transform(func)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" y="306324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099816"/>
            <a:ext cx="213969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views::take / drop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44368" y="306324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3099816"/>
            <a:ext cx="268833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取前 / 跳过前 N 个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79008" y="3063240"/>
            <a:ext cx="4297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3099816"/>
            <a:ext cx="415137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 | take(5)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" y="3566160"/>
            <a:ext cx="22860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602736"/>
            <a:ext cx="213969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views::reverse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44368" y="3566160"/>
            <a:ext cx="283464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3602736"/>
            <a:ext cx="268833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反转遍历顺序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79008" y="3566160"/>
            <a:ext cx="429768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3602736"/>
            <a:ext cx="415137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 | reverse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" y="406908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105656"/>
            <a:ext cx="213969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views::split / join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44368" y="406908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4105656"/>
            <a:ext cx="268833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拆分 / 展平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79008" y="4069080"/>
            <a:ext cx="4297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4105656"/>
            <a:ext cx="4151376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text | split(' ')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232" y="4892040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适配器的返回值仍是 View，因此可以继续用 | 连接下一个阶段。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Adaptor 接收上游 Range 并改变观察方式，整个链条保持可组合。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 Factory：从无到有产生数据序列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Factory 不需要输入 Range；它自己就是数据流的起点。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645920"/>
            <a:ext cx="6400800" cy="31546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55648"/>
            <a:ext cx="60716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75104"/>
            <a:ext cx="6071616" cy="27340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auto first_five_even = std::views::iota(1)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| std::views::filter([](int x) { return x % 2 == 0; })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| std::views::take(5);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for (int x : first_five_even)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std::cout &lt;&lt; x &lt;&lt; ' ';  // 2 4 6 8 10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452360" y="164592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1645920"/>
            <a:ext cx="3703320" cy="91440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184708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views::iota(1)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35240" y="2212848"/>
            <a:ext cx="3337560" cy="758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产生 1, 2, 3, ...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可看作“无限”的等差序列；配合 take 才会有限消费。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452360" y="3401568"/>
            <a:ext cx="3703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3401568"/>
            <a:ext cx="3703320" cy="91440"/>
          </a:xfrm>
          <a:prstGeom prst="rect">
            <a:avLst/>
          </a:prstGeom>
          <a:solidFill>
            <a:srgbClr val="3C8A78"/>
          </a:solidFill>
          <a:ln w="12700">
            <a:solidFill>
              <a:srgbClr val="3C8A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360273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版本提示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35240" y="3968496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views::join 是 C++20。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views::enumerate 是 C++23；使用时必须标明版本。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Adaptor 改造已有数据；Factory 则直接产生一个可继续组合的 Range。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Ranges Algorithm：不再手传 begin/end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算法仍然是 STL 的算法，只是调用方式更接近“对这个范围做什么”。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5897880" cy="288036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773936"/>
            <a:ext cx="556869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0392" y="1993392"/>
            <a:ext cx="5568696" cy="24597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#include &lt;algorithm&gt;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#include &lt;ranges&gt;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std::sort(v.begin(), v.end());     // 传统 STL 算法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std::ranges::sort(v);              // Ranges 算法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auto it = std::ranges::find(v, 42);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022592" y="1664208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22592" y="1664208"/>
            <a:ext cx="4114800" cy="9144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186537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 vs Algorithm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05472" y="2231136"/>
            <a:ext cx="3749040" cy="121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View：组合、过滤、变换，通常惰性。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Algorithm：排序、查找、消费 Range；可能修改数据或产生结果。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9692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注意：sort 需要可随机访问、可修改的 Range；不是每个 View 都能排序。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Ranges Algorithm 保留 STL 算法能力，同时让接口摆脱迭代器对的书写负担。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Projection：把“取什么”与“怎么比”分开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排序 Person 时，比较器不必反复手写“先取 age 再比较”的 lambda。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6903720" cy="388620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682496"/>
            <a:ext cx="657453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58952" y="1901952"/>
            <a:ext cx="6574536" cy="34655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struct Person {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std::string name;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int age;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};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传统：比较逻辑和字段提取混在一起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std::sort(people.begin(), people.end(),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[](const Person&amp; a, const Person&amp; b) { return a.age &lt; b.age; });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Ranges：{} 是默认比较器，&amp;Person::age 是 Projection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std::ranges::sort(people, {}, &amp;Person::age);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909560" y="1645920"/>
            <a:ext cx="2926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1645920"/>
            <a:ext cx="2926080" cy="91440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84708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Projection 的数据流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92440" y="2212848"/>
            <a:ext cx="2560320" cy="15361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Person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  ↓ 取 age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int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  ↓ 默认 less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排序结果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Projection 指定“比较前取哪个键”，从而让算法意图更直接。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Projection 更多示例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同一套算法接口，可以投影成员，也可以投影一个计算结果。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6903720" cy="33832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657453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6574536" cy="2962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按 name 长度排序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std::ranges::sort(people, {},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[](const Person&amp; p) { return p.name.size(); });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按绝对值排序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std::vector&lt;int&gt; v{-5, 3, -1, 4, -2};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std::ranges::sort(v, {}, [](int x) { return std::abs(x); });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结果：-1, -2, 3, 4, -5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973568" y="1682496"/>
            <a:ext cx="3154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73568" y="1682496"/>
            <a:ext cx="3154680" cy="91440"/>
          </a:xfrm>
          <a:prstGeom prst="rect">
            <a:avLst/>
          </a:prstGeom>
          <a:solidFill>
            <a:srgbClr val="3C8A78"/>
          </a:solidFill>
          <a:ln w="12700">
            <a:solidFill>
              <a:srgbClr val="3C8A7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1883664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适用算法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56448" y="2249424"/>
            <a:ext cx="2788920" cy="4846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sort、min_element、max_element 等 Ranges 算法都支持 Projection 参数。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973568" y="3182112"/>
            <a:ext cx="3154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3182112"/>
            <a:ext cx="3154680" cy="9144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338328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思考方式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56448" y="3749040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比较器回答“怎么比”；Projection 回答“先看什么”。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把字段/键的提取独立出来，代码会少掉大量重复的比较 lambda。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声明式代码：读到的是意图，而不是步骤噪音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适合数据筛选、映射、裁剪的场景；复杂状态机仍可能更适合普通循环。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6903720" cy="397764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664208"/>
            <a:ext cx="657453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58952" y="1883664"/>
            <a:ext cx="6574536" cy="3557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指令式：怎么干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std::vector&lt;int&gt; result;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for (int x : data) {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if (x &gt; 0) result.push_back(x * 2);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if (result.size() == 5) break;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}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声明式：干什么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auto result = data | std::views::filter([](int x) { return x &gt; 0; })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               | std::views::transform([](int x) { return x * 2; })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               | std::views::take(5);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790688" y="1737360"/>
            <a:ext cx="960120" cy="438912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773936"/>
            <a:ext cx="8138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维度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750808" y="1737360"/>
            <a:ext cx="1417320" cy="438912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1773936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传统循环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168128" y="1737360"/>
            <a:ext cx="1417320" cy="438912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0" y="1773936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Ranges 管道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90688" y="2176272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212848"/>
            <a:ext cx="8138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阅读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50808" y="217627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212848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追踪状态变化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68128" y="217627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0" y="2212848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顺着数据流读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90688" y="2615184"/>
            <a:ext cx="96012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2651760"/>
            <a:ext cx="8138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插入步骤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50808" y="2615184"/>
            <a:ext cx="141732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2651760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改循环/条件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168128" y="2615184"/>
            <a:ext cx="141732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2651760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插入 | new_op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90688" y="3054096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3090672"/>
            <a:ext cx="8138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中间状态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750808" y="3054096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3960" y="3090672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常需自行维护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168128" y="3054096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0" y="3090672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通常由 View 组合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Ranges 不是替代所有 for 循环，而是为“数据流水线”提供更贴近意图的表达。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性能：零中间容器与单次遍历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性能优势通常来自减少物化和不必要的数据搬运，而不是“算法魔法”。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1600200" cy="685800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103120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09397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5C4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08960" y="1874520"/>
            <a:ext cx="1600200" cy="685800"/>
          </a:xfrm>
          <a:prstGeom prst="rect">
            <a:avLst/>
          </a:prstGeom>
          <a:solidFill>
            <a:srgbClr val="F3A08B"/>
          </a:solidFill>
          <a:ln w="12700">
            <a:solidFill>
              <a:srgbClr val="F3A08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03120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容器 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209397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5C4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04688" y="1874520"/>
            <a:ext cx="1600200" cy="685800"/>
          </a:xfrm>
          <a:prstGeom prst="rect">
            <a:avLst/>
          </a:prstGeom>
          <a:solidFill>
            <a:srgbClr val="F3A08B"/>
          </a:solidFill>
          <a:ln w="12700">
            <a:solidFill>
              <a:srgbClr val="F3A0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2103120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容器 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68896" y="209397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5C4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00416" y="1874520"/>
            <a:ext cx="1600200" cy="685800"/>
          </a:xfrm>
          <a:prstGeom prst="rect">
            <a:avLst/>
          </a:prstGeom>
          <a:solidFill>
            <a:srgbClr val="F3A08B"/>
          </a:solidFill>
          <a:ln w="12700">
            <a:solidFill>
              <a:srgbClr val="F3A08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0416" y="2103120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容器 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27889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传统：每个阶段可能生成一份新容器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3232" y="3657600"/>
            <a:ext cx="8823960" cy="731520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91363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元素  →  filter  →  transform  →  take  →  输出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626864"/>
            <a:ext cx="7863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Ranges：元素沿一条管道流动；视图链本身不存放中间元素。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View 组合避免了不必要的中间容器，且多个阶段可以按元素交织执行。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性能实测：</a:t>
            </a:r>
            <a:r>
              <a:rPr lang="zh-CN" alt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在合适的场景下用</a:t>
            </a: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Ranges</a:t>
            </a:r>
            <a:r>
              <a:rPr lang="zh-CN" alt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提效明显</a:t>
            </a:r>
            <a:endParaRPr lang="zh-CN" altLang="en-US" sz="2500" b="1" dirty="0">
              <a:solidFill>
                <a:srgbClr val="1D273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基准数据来自Sample</a:t>
            </a:r>
            <a:r>
              <a:rPr lang="zh-CN" alt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代码</a:t>
            </a: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：一千万条 double，执行 filter → transform → take。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1828800" cy="475488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9344"/>
            <a:ext cx="1682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指标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1572768"/>
            <a:ext cx="2971800" cy="475488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609344"/>
            <a:ext cx="2825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传统写法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58968" y="1572768"/>
            <a:ext cx="2971800" cy="475488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609344"/>
            <a:ext cx="2825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Ranges 管道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2048256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084832"/>
            <a:ext cx="1682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耗时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87168" y="2048256"/>
            <a:ext cx="2971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084832"/>
            <a:ext cx="2825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603 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58968" y="2048256"/>
            <a:ext cx="2971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084832"/>
            <a:ext cx="2825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55 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2523744"/>
            <a:ext cx="182880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560320"/>
            <a:ext cx="1682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中间容器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87168" y="2523744"/>
            <a:ext cx="297180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2560320"/>
            <a:ext cx="2825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3 个（约 1450 万个 double）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58968" y="2523744"/>
            <a:ext cx="297180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560320"/>
            <a:ext cx="2825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 个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" y="299923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035808"/>
            <a:ext cx="1682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遍历次数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87168" y="2999232"/>
            <a:ext cx="2971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3035808"/>
            <a:ext cx="2825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3 次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58968" y="2999232"/>
            <a:ext cx="2971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3035808"/>
            <a:ext cx="2825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 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" y="3474720"/>
            <a:ext cx="182880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511296"/>
            <a:ext cx="1682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加速比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87168" y="3474720"/>
            <a:ext cx="297180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3511296"/>
            <a:ext cx="2825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58968" y="3474720"/>
            <a:ext cx="297180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3511296"/>
            <a:ext cx="28254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约 11.0×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915400" y="1572768"/>
            <a:ext cx="2194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15400" y="1572768"/>
            <a:ext cx="2194560" cy="91440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98280" y="177393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这组结果为何成立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098280" y="2139696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避免建立大规模中间结果；优化器可内联适配器链。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Ranges 的主要收益来自避免不必要的</a:t>
            </a:r>
            <a:r>
              <a:rPr lang="zh-CN" alt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内存拷贝</a:t>
            </a: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和遍历；性能结论必须结合工作负载。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什么时候需要物化？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 是计算管道，不是持久存储：跨作用域保存或重复遍历时，需明确拥有结果。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6126480" cy="256032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579729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5797296" cy="21396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C++23：把 View 物化为容器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auto v = data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| std::views::filter(pred)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| std::views::transform(func)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| std::ranges::to&lt;std::vector&lt;int&gt;&gt;();  // C++23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150608" y="1737360"/>
            <a:ext cx="82296" cy="82296"/>
          </a:xfrm>
          <a:prstGeom prst="ellipse">
            <a:avLst/>
          </a:prstGeom>
          <a:solidFill>
            <a:srgbClr val="EA8B00"/>
          </a:solidFill>
          <a:ln w="12700">
            <a:solidFill>
              <a:srgbClr val="EA8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3488" y="166420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需要跨作用域返回：不要返回引用局部数据的 View。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150608" y="2176272"/>
            <a:ext cx="82296" cy="82296"/>
          </a:xfrm>
          <a:prstGeom prst="ellipse">
            <a:avLst/>
          </a:prstGeom>
          <a:solidFill>
            <a:srgbClr val="EA8B00"/>
          </a:solidFill>
          <a:ln w="12700">
            <a:solidFill>
              <a:srgbClr val="EA8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210312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需要多次遍历 Input Range：先物化为容器。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150608" y="2615184"/>
            <a:ext cx="82296" cy="82296"/>
          </a:xfrm>
          <a:prstGeom prst="ellipse">
            <a:avLst/>
          </a:prstGeom>
          <a:solidFill>
            <a:srgbClr val="EA8B00"/>
          </a:solidFill>
          <a:ln w="12700">
            <a:solidFill>
              <a:srgbClr val="EA8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254203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下游旧代码只接受容器：在边界处物化。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150608" y="3054096"/>
            <a:ext cx="82296" cy="82296"/>
          </a:xfrm>
          <a:prstGeom prst="ellipse">
            <a:avLst/>
          </a:prstGeom>
          <a:solidFill>
            <a:srgbClr val="EA8B00"/>
          </a:solidFill>
          <a:ln w="12700">
            <a:solidFill>
              <a:srgbClr val="EA8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3488" y="2980944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C++20 中可显式创建 vector，并从 Range 迭代器拷贝构造。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惰性加工与持久化存储是两件事；在需要拥有结果的边界处再物化。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陷阱一：悬垂引用（Dangling）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 通常不拥有底层数据；源对象的生命周期必须覆盖 View 的使用期。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645920"/>
            <a:ext cx="6400800" cy="274320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55648"/>
            <a:ext cx="60716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75104"/>
            <a:ext cx="6071616" cy="23225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auto dangerous() {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std::vector&lt;int&gt; v{1, 2, 3, 4, 5};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return v | std::views::filter(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    [](int x) { return x % 2 == 0; });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} // v 在这里析构；返回的 view 可能悬垂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406640" y="1664208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1664208"/>
            <a:ext cx="3657600" cy="91440"/>
          </a:xfrm>
          <a:prstGeom prst="rect">
            <a:avLst/>
          </a:prstGeom>
          <a:solidFill>
            <a:srgbClr val="C95C4A"/>
          </a:solidFill>
          <a:ln w="12700">
            <a:solidFill>
              <a:srgbClr val="C95C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86537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为什么危险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2231136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view 只是对 v 的观察；函数返回后 v 不存在，继续遍历就是未定义行为。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406640" y="320040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3200400"/>
            <a:ext cx="3657600" cy="91440"/>
          </a:xfrm>
          <a:prstGeom prst="rect">
            <a:avLst/>
          </a:prstGeom>
          <a:solidFill>
            <a:srgbClr val="3C8A78"/>
          </a:solidFill>
          <a:ln w="12700">
            <a:solidFill>
              <a:srgbClr val="3C8A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340156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推荐做法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376732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需要把结果传出作用域：在函数内物化成 vector 后再返回。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不要让 View 比它观察的源数据活得更久。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陷阱二：View 的 const 语义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部分 View（例如 filter_view）可能需要在 begin() 时建立内部缓存。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6492240" cy="24688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616305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6163056" cy="2048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const auto view = data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| std::views::filter(pred);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对某些具体 view 类型，view.begin() 可能无法编译：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const 对象不允许修改用于缓存的内部状态。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534656" y="1664208"/>
            <a:ext cx="3520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34656" y="1664208"/>
            <a:ext cx="3520440" cy="9144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17536" y="1865376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不要误解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17536" y="223113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“View 对象是 const”不等于“底层数据只读”。二者表达的是不同层面的约束。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534656" y="3182112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34656" y="3182112"/>
            <a:ext cx="3520440" cy="91440"/>
          </a:xfrm>
          <a:prstGeom prst="rect">
            <a:avLst/>
          </a:prstGeom>
          <a:solidFill>
            <a:srgbClr val="3C8A78"/>
          </a:solidFill>
          <a:ln w="12700">
            <a:solidFill>
              <a:srgbClr val="3C8A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7536" y="338328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推荐做法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17536" y="3749040"/>
            <a:ext cx="3154680" cy="3931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需要只读语义时，优先让源数据为 const；非必要不要对 View 加 const。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对 View 写 const 前，先确认该 View 的迭代与缓存语义。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陷阱三：Input Range 只能遍历一次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并非所有 Range 都像 vector 一样能反复遍历；输入流是典型的一次性数据源。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645920"/>
            <a:ext cx="6629400" cy="265176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55648"/>
            <a:ext cx="63002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75104"/>
            <a:ext cx="6300216" cy="22311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auto v = std::views::istream&lt;int&gt;(std::cin)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   | std::views::take(5);</a:t>
            </a:r>
            <a:endParaRPr lang="en-US" sz="1120" dirty="0"/>
          </a:p>
          <a:p>
            <a:pPr marL="0" indent="0" algn="l">
              <a:buNone/>
            </a:pP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for (int x : v) std::cout &lt;&lt; x &lt;&lt; ' ';  // 正常消费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for (int x : v) std::cout &lt;&lt; x &lt;&lt; ' ';  // 输入已被消费，通常为空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680960" y="1664208"/>
            <a:ext cx="3337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1664208"/>
            <a:ext cx="3337560" cy="91440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865376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原因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2231136"/>
            <a:ext cx="2971800" cy="3931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istream_view 基于 input_iterator；读取行为会推进输入流，不能回退。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680960" y="315468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3154680"/>
            <a:ext cx="3337560" cy="91440"/>
          </a:xfrm>
          <a:prstGeom prst="rect">
            <a:avLst/>
          </a:prstGeom>
          <a:solidFill>
            <a:srgbClr val="3C8A78"/>
          </a:solidFill>
          <a:ln w="12700">
            <a:solidFill>
              <a:srgbClr val="3C8A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355848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推荐做法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0" y="3721608"/>
            <a:ext cx="2971800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如果必须多次遍历，先将数据物化到 vector 等容器。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使用一个 Range 前，先问：它是可重复遍历的，还是一次性输入？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扩展：string_view 与 span 的零拷贝区间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它们和 Ranges 一样，强调“数据不动，用轻量视图表达参数”。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2194560" cy="530352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9344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类型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52928" y="1572768"/>
            <a:ext cx="3749040" cy="530352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609344"/>
            <a:ext cx="3602736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作用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01968" y="1572768"/>
            <a:ext cx="1828800" cy="530352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609344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引入版本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2103120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139696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std::string_view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52928" y="2103120"/>
            <a:ext cx="3749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139696"/>
            <a:ext cx="3602736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字符串的只读视图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01968" y="2103120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139696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C++17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2633472"/>
            <a:ext cx="219456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670048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std::span&lt;T&gt;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52928" y="2633472"/>
            <a:ext cx="374904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2670048"/>
            <a:ext cx="3602736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连续内存的视图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01968" y="2633472"/>
            <a:ext cx="182880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670048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C++20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3657600"/>
            <a:ext cx="5715000" cy="164592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767328"/>
            <a:ext cx="53858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C56C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C++20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3986784"/>
            <a:ext cx="5385816" cy="1225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void sum(std::span&lt;const int&gt; data) {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int total = 0;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    for (int x : data) total += x;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}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EAF0F3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// vector、array、C 数组都可传入（无需复制）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784848" y="3639312"/>
            <a:ext cx="82296" cy="82296"/>
          </a:xfrm>
          <a:prstGeom prst="ellipse">
            <a:avLst/>
          </a:prstGeom>
          <a:solidFill>
            <a:srgbClr val="EA8B00"/>
          </a:solidFill>
          <a:ln w="12700">
            <a:solidFill>
              <a:srgbClr val="EA8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35661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统一接口：span&lt;const int&gt; 可接收多种连续存储。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84848" y="4078224"/>
            <a:ext cx="82296" cy="82296"/>
          </a:xfrm>
          <a:prstGeom prst="ellipse">
            <a:avLst/>
          </a:prstGeom>
          <a:solidFill>
            <a:srgbClr val="EA8B00"/>
          </a:solidFill>
          <a:ln w="12700">
            <a:solidFill>
              <a:srgbClr val="EA8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40050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薄包装：通常仅是指针 + 长度。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84848" y="4517136"/>
            <a:ext cx="82296" cy="82296"/>
          </a:xfrm>
          <a:prstGeom prst="ellipse">
            <a:avLst/>
          </a:prstGeom>
          <a:solidFill>
            <a:srgbClr val="EA8B00"/>
          </a:solidFill>
          <a:ln w="12700">
            <a:solidFill>
              <a:srgbClr val="EA8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444398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同样不拥有数据：生命周期规则依然适用。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5925312"/>
            <a:ext cx="11173968" cy="384048"/>
          </a:xfrm>
          <a:prstGeom prst="rect">
            <a:avLst/>
          </a:prstGeom>
          <a:solidFill>
            <a:srgbClr val="F5E9D9"/>
          </a:solidFill>
          <a:ln w="12700">
            <a:solidFill>
              <a:srgbClr val="F5E9D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600760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关键结论  Ranges、string_view、span 共同体现“数据不动，接口以视图组合”的现代 C++ 风格。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现代C++的发展道路 · 从哲学到实践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57784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总结：把控制流换成数据流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Ranges 带来的不只是一组标准库工具，更是一种数据处理的表达方式。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第六篇 · C++20 Ranges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5074920" cy="9144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0136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从“怎么做”到“做什么”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167128"/>
            <a:ext cx="4709160" cy="4846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用声明式管道表达意图。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00200"/>
            <a:ext cx="5074920" cy="91440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80136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从容器思维到 View 思维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167128"/>
            <a:ext cx="4709160" cy="4846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数据不动，只改变观察方式。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85800" y="310896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108960"/>
            <a:ext cx="5074920" cy="91440"/>
          </a:xfrm>
          <a:prstGeom prst="rect">
            <a:avLst/>
          </a:prstGeom>
          <a:solidFill>
            <a:srgbClr val="E47B69"/>
          </a:solidFill>
          <a:ln w="12700">
            <a:solidFill>
              <a:srgbClr val="E47B6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31012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从立即计算到按需消费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675888"/>
            <a:ext cx="4709160" cy="4846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遍历时才让元素流经管道。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263640" y="310896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108960"/>
            <a:ext cx="5074920" cy="91440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310128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从孤立步骤到可组合阶段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3675888"/>
            <a:ext cx="4709160" cy="4846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filter / transform / take 可自由拼接。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731520" y="501091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02A3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Ranges 让你用数据流代替控制流，用意图代替步骤。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31520" y="5532120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练习：将“筛选大于 10 的数 → 乘 3 → 跳过前 2 个 → 取 5 个”改写为一条 Ranges 管道。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A8B00"/>
          </a:solidFill>
          <a:ln w="12700">
            <a:solidFill>
              <a:srgbClr val="EA8B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58768" cy="6858000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pic>
        <p:nvPicPr>
          <p:cNvPr id="4" name="Image 0" descr="/private/tmp/ranges-cover-art.png"/>
          <p:cNvPicPr>
            <a:picLocks noChangeAspect="1"/>
          </p:cNvPicPr>
          <p:nvPr/>
        </p:nvPicPr>
        <p:blipFill>
          <a:blip r:embed="rId1">
            <a:alphaModFix amt="88000"/>
          </a:blip>
          <a:srcRect/>
          <a:stretch>
            <a:fillRect/>
          </a:stretch>
        </p:blipFill>
        <p:spPr>
          <a:xfrm>
            <a:off x="0" y="0"/>
            <a:ext cx="3858768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3858768" cy="6858000"/>
          </a:xfrm>
          <a:prstGeom prst="rect">
            <a:avLst/>
          </a:prstGeom>
          <a:solidFill>
            <a:srgbClr val="202A34"/>
          </a:solidFill>
          <a:ln w="12700">
            <a:solidFill>
              <a:srgbClr val="202A34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92040" y="107899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谢谢大家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4910328" y="2148840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下期预告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92040" y="2542032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C++20 协程——用同步语法写异步代码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892040" y="303580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我们将探讨 C++20 协程如何用看似同步的代码来编写异步操作。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892040" y="3794760"/>
            <a:ext cx="6400800" cy="0"/>
          </a:xfrm>
          <a:prstGeom prst="line">
            <a:avLst/>
          </a:prstGeom>
          <a:noFill/>
          <a:ln w="12700">
            <a:solidFill>
              <a:srgbClr val="E9D8C9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4892040" y="41605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GitHub 示例代码：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4462272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EA8B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https://github.com/Alex-Cheng/qianxin_cpp/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6007608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系列名：现代C++的发展道路 · 从哲学到实践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9701</Words>
  <Application>WPS 演示</Application>
  <PresentationFormat>On-screen Show (16:9)</PresentationFormat>
  <Paragraphs>864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宋体</vt:lpstr>
      <vt:lpstr>Wingdings</vt:lpstr>
      <vt:lpstr>PingFang SC</vt:lpstr>
      <vt:lpstr>PingFang SC</vt:lpstr>
      <vt:lpstr>Menlo</vt:lpstr>
      <vt:lpstr>Menlo</vt:lpstr>
      <vt:lpstr>Menlo</vt:lpstr>
      <vt:lpstr>微软雅黑</vt:lpstr>
      <vt:lpstr>Arial Unicode MS</vt:lpstr>
      <vt:lpstr>等线</vt:lpstr>
      <vt:lpstr>汉仪中等线KW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现代C++的发展道路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第六篇：C++20 Ranges——用管道思维打开编程新模式</dc:title>
  <dc:creator>Alex Cheng</dc:creator>
  <dc:subject>C++20 Ranges 教学课件</dc:subject>
  <cp:lastModifiedBy>程鑫 Alex Cheng</cp:lastModifiedBy>
  <cp:revision>7</cp:revision>
  <dcterms:created xsi:type="dcterms:W3CDTF">2026-08-01T08:18:18Z</dcterms:created>
  <dcterms:modified xsi:type="dcterms:W3CDTF">2026-08-01T08:18:18Z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F5DADA5602D4638243A96D6ACD8CA409_42</vt:lpwstr>
  </property>
</Properties>
</file>