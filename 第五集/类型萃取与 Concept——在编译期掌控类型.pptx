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Manrope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-Cheng/qianxin_cpp/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5994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现代C++的发展道路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925119" y="194622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从哲学到实践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23856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第五篇：类型萃取与 Concept——在编译期掌控类型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48421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一门语言的长青之道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74303"/>
            <a:ext cx="3449985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为什么需要"看见"类型？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993725"/>
            <a:ext cx="826025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先问一个问题：为什么要在编译期"看见"类型？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500560"/>
            <a:ext cx="4073872" cy="1102668"/>
          </a:xfrm>
          <a:prstGeom prst="roundRect">
            <a:avLst>
              <a:gd name="adj" fmla="val 621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1871" y="1486272"/>
            <a:ext cx="4073872" cy="57150"/>
          </a:xfrm>
          <a:prstGeom prst="roundRect">
            <a:avLst>
              <a:gd name="adj" fmla="val 198837"/>
            </a:avLst>
          </a:prstGeom>
          <a:solidFill>
            <a:srgbClr val="FF7047"/>
          </a:solidFill>
          <a:ln/>
        </p:spPr>
      </p:sp>
      <p:sp>
        <p:nvSpPr>
          <p:cNvPr id="6" name="Shape 4"/>
          <p:cNvSpPr/>
          <p:nvPr/>
        </p:nvSpPr>
        <p:spPr>
          <a:xfrm>
            <a:off x="2289423" y="1311176"/>
            <a:ext cx="378768" cy="378768"/>
          </a:xfrm>
          <a:prstGeom prst="roundRect">
            <a:avLst>
              <a:gd name="adj" fmla="val 150884"/>
            </a:avLst>
          </a:prstGeom>
          <a:solidFill>
            <a:srgbClr val="FF70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3053" y="1424732"/>
            <a:ext cx="151507" cy="151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2364" y="1816150"/>
            <a:ext cx="205085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模板实例化需要完整类型信息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2364" y="2080840"/>
            <a:ext cx="379288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编译器实例化 vector&lt;T&gt; 时必须知道 T 的大小和对齐，才能正确分配内存；是否 trivially copyable，才能决定能否用直接内存拷贝。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28183" y="1500560"/>
            <a:ext cx="4073947" cy="1102668"/>
          </a:xfrm>
          <a:prstGeom prst="roundRect">
            <a:avLst>
              <a:gd name="adj" fmla="val 6219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8183" y="1486272"/>
            <a:ext cx="4073947" cy="57150"/>
          </a:xfrm>
          <a:prstGeom prst="roundRect">
            <a:avLst>
              <a:gd name="adj" fmla="val 198837"/>
            </a:avLst>
          </a:prstGeom>
          <a:solidFill>
            <a:srgbClr val="FF7047"/>
          </a:solidFill>
          <a:ln/>
        </p:spPr>
      </p:sp>
      <p:sp>
        <p:nvSpPr>
          <p:cNvPr id="12" name="Shape 9"/>
          <p:cNvSpPr/>
          <p:nvPr/>
        </p:nvSpPr>
        <p:spPr>
          <a:xfrm>
            <a:off x="6475735" y="1311176"/>
            <a:ext cx="378768" cy="378768"/>
          </a:xfrm>
          <a:prstGeom prst="roundRect">
            <a:avLst>
              <a:gd name="adj" fmla="val 150884"/>
            </a:avLst>
          </a:prstGeom>
          <a:solidFill>
            <a:srgbClr val="FF70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9365" y="1424732"/>
            <a:ext cx="151507" cy="1515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8676" y="1816150"/>
            <a:ext cx="17353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编译期类型检查保证安全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8676" y="2080840"/>
            <a:ext cx="37929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检查模板参数，不符合约束的调用（如把字符串传给整数接口）直接在编译阶段被拒绝，而不是留到运行时出错。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1871" y="2905051"/>
            <a:ext cx="4073872" cy="1293614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1871" y="2890763"/>
            <a:ext cx="4073872" cy="57150"/>
          </a:xfrm>
          <a:prstGeom prst="roundRect">
            <a:avLst>
              <a:gd name="adj" fmla="val 198837"/>
            </a:avLst>
          </a:prstGeom>
          <a:solidFill>
            <a:srgbClr val="FF7047"/>
          </a:solidFill>
          <a:ln/>
        </p:spPr>
      </p:sp>
      <p:sp>
        <p:nvSpPr>
          <p:cNvPr id="18" name="Shape 14"/>
          <p:cNvSpPr/>
          <p:nvPr/>
        </p:nvSpPr>
        <p:spPr>
          <a:xfrm>
            <a:off x="2289423" y="2715667"/>
            <a:ext cx="378768" cy="378768"/>
          </a:xfrm>
          <a:prstGeom prst="roundRect">
            <a:avLst>
              <a:gd name="adj" fmla="val 150884"/>
            </a:avLst>
          </a:prstGeom>
          <a:solidFill>
            <a:srgbClr val="FF704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3053" y="2829223"/>
            <a:ext cx="151507" cy="15150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2364" y="322064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支持编译期多态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82364" y="3485331"/>
            <a:ext cx="379288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对不同类型生成专用代码，消除运行期虚表调度，实现零开销抽象。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628183" y="2905051"/>
            <a:ext cx="4073947" cy="1293614"/>
          </a:xfrm>
          <a:prstGeom prst="roundRect">
            <a:avLst>
              <a:gd name="adj" fmla="val 5301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28183" y="2890763"/>
            <a:ext cx="4073947" cy="57150"/>
          </a:xfrm>
          <a:prstGeom prst="roundRect">
            <a:avLst>
              <a:gd name="adj" fmla="val 198837"/>
            </a:avLst>
          </a:prstGeom>
          <a:solidFill>
            <a:srgbClr val="FF7047"/>
          </a:solidFill>
          <a:ln/>
        </p:spPr>
      </p:sp>
      <p:sp>
        <p:nvSpPr>
          <p:cNvPr id="24" name="Shape 19"/>
          <p:cNvSpPr/>
          <p:nvPr/>
        </p:nvSpPr>
        <p:spPr>
          <a:xfrm>
            <a:off x="6475735" y="2715667"/>
            <a:ext cx="378768" cy="378768"/>
          </a:xfrm>
          <a:prstGeom prst="roundRect">
            <a:avLst>
              <a:gd name="adj" fmla="val 150884"/>
            </a:avLst>
          </a:prstGeom>
          <a:solidFill>
            <a:srgbClr val="FF704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9365" y="2829223"/>
            <a:ext cx="151507" cy="15150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68676" y="322064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用来做编译期优化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68676" y="3485331"/>
            <a:ext cx="37929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根据类型属性选择最优算法（如 memcpy vs 逐元素复制、random_access vs forward_access 的排序策略），并通过 if constexpr 等机制裁剪死代码。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31254" y="4451672"/>
            <a:ext cx="80708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核心问题：</a:t>
            </a:r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如何在编译期检测一个类型的"特征"——比如它是不是整数、能不能拷贝、是不是某个类的派生类？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41871" y="4325169"/>
            <a:ext cx="14288" cy="443954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0485"/>
            <a:ext cx="520898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为什么需要在编译期"修改"类型？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41288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先问一个问题：为什么需要在编译期"修改"类型？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671712"/>
            <a:ext cx="2467124" cy="1980456"/>
          </a:xfrm>
          <a:prstGeom prst="roundRect">
            <a:avLst>
              <a:gd name="adj" fmla="val 634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2668" y="181600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模板参数类型不统一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2668" y="2188518"/>
            <a:ext cx="2178546" cy="721965"/>
          </a:xfrm>
          <a:prstGeom prst="roundRect">
            <a:avLst>
              <a:gd name="adj" fmla="val 1739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25748" y="2188518"/>
            <a:ext cx="2192387" cy="721965"/>
          </a:xfrm>
          <a:prstGeom prst="roundRect">
            <a:avLst>
              <a:gd name="adj" fmla="val 289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00174" y="2328044"/>
            <a:ext cx="18435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 / T&amp; / T&amp;&amp; / const T&amp; → remove_cvref_t → 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2668" y="3064966"/>
            <a:ext cx="217854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同一个函数模板收到多种形式，统一成"原始类型"后逻辑清晰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00636" y="1671712"/>
            <a:ext cx="2467124" cy="2201912"/>
          </a:xfrm>
          <a:prstGeom prst="roundRect">
            <a:avLst>
              <a:gd name="adj" fmla="val 5704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4925" y="181600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提取类型的组成部分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44925" y="2188518"/>
            <a:ext cx="2178546" cy="721965"/>
          </a:xfrm>
          <a:prstGeom prst="roundRect">
            <a:avLst>
              <a:gd name="adj" fmla="val 17397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8004" y="2188518"/>
            <a:ext cx="2192387" cy="721965"/>
          </a:xfrm>
          <a:prstGeom prst="roundRect">
            <a:avLst>
              <a:gd name="adj" fmla="val 2899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3612431" y="2328044"/>
            <a:ext cx="18435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→ value_type → 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4925" y="3064966"/>
            <a:ext cx="217854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容器嵌套类型（value_type、iterator、size_type）一键提取，无需手动重写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12892" y="1671712"/>
            <a:ext cx="2552179" cy="1537543"/>
          </a:xfrm>
          <a:prstGeom prst="roundRect">
            <a:avLst>
              <a:gd name="adj" fmla="val 816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7181" y="1816001"/>
            <a:ext cx="191794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在泛型代码中做类型推导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7181" y="2188518"/>
            <a:ext cx="2263601" cy="500509"/>
          </a:xfrm>
          <a:prstGeom prst="roundRect">
            <a:avLst>
              <a:gd name="adj" fmla="val 25094"/>
            </a:avLst>
          </a:prstGeom>
          <a:solidFill>
            <a:srgbClr val="F2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50260" y="2188518"/>
            <a:ext cx="2277442" cy="500509"/>
          </a:xfrm>
          <a:prstGeom prst="roundRect">
            <a:avLst>
              <a:gd name="adj" fmla="val 4182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24687" y="2328044"/>
            <a:ext cx="19285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 → add_pointer_t → T*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57181" y="2843510"/>
            <a:ext cx="2263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自动生成指针类型，无需手写偏特化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7706" y="4337075"/>
            <a:ext cx="79579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核心问题：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如何在编译期"修改"一个类型——去掉 const、去掉引用、加上指针、提取嵌套类型？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8379" y="4182591"/>
            <a:ext cx="19050" cy="530423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2481" y="467097"/>
            <a:ext cx="53989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什么是类型萃取（Type Traits）？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8720" y="1353071"/>
            <a:ext cx="7939162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类型萃取是一种</a:t>
            </a:r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编译期处理类型的思想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，在编译期"看见"类型的特性，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8720" y="1795983"/>
            <a:ext cx="7939162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根据做出决策或变换类型。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8720" y="2238896"/>
            <a:ext cx="7939162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1193602"/>
            <a:ext cx="19050" cy="1488207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63180"/>
            <a:ext cx="2622724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3172123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1469" y="34839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检测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790504"/>
            <a:ext cx="2622724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是不是整数？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能不能拷贝？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是不是某个类的派生类？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0601" y="3063180"/>
            <a:ext cx="2622724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3260601" y="3172123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5952" y="34839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查询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60601" y="3790504"/>
            <a:ext cx="2622724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类型的大小是多少？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对齐要求是什么？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3063180"/>
            <a:ext cx="2622724" cy="1905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083" y="3172123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50434" y="34839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变换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25083" y="3790504"/>
            <a:ext cx="2622724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去掉 const、去掉引用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加上指针、提取嵌套类型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50639"/>
            <a:ext cx="327786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 标准库的类型萃取组件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82179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检测类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03759" y="1171129"/>
            <a:ext cx="4298082" cy="1427857"/>
          </a:xfrm>
          <a:prstGeom prst="roundRect">
            <a:avLst>
              <a:gd name="adj" fmla="val 670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521" y="1175891"/>
            <a:ext cx="4288557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4859" y="1228427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萃取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47032" y="1228427"/>
            <a:ext cx="7454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含义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09801" y="1228427"/>
            <a:ext cx="16810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示例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08521" y="1429792"/>
            <a:ext cx="4288557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14859" y="1482328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is_integral_v&lt;T&gt;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47032" y="1482328"/>
            <a:ext cx="7454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是整型吗？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09801" y="1482328"/>
            <a:ext cx="16810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is_integral_v&lt;int&gt;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true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08521" y="1683693"/>
            <a:ext cx="4288557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14859" y="1736229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is_floating_point_v&lt;T&gt;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47032" y="1736229"/>
            <a:ext cx="7454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是浮点型吗？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09801" y="1736229"/>
            <a:ext cx="168101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is_floating_point_v&lt;double&gt;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true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8521" y="2086421"/>
            <a:ext cx="4288557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4859" y="2138958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is_pointer_v&lt;T&gt;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47032" y="2138958"/>
            <a:ext cx="7454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是指针吗？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09801" y="2138958"/>
            <a:ext cx="16810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is_pointer_v&lt;int*&gt;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true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8521" y="2340322"/>
            <a:ext cx="4288557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14859" y="2392859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is_same_v&lt;T, U&gt;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47032" y="2392859"/>
            <a:ext cx="7454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 和 U 相同吗？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9801" y="2392859"/>
            <a:ext cx="168101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is_same_v&lt;int, int&gt;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true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3759" y="268865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变换类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3759" y="2977604"/>
            <a:ext cx="4298082" cy="1725513"/>
          </a:xfrm>
          <a:prstGeom prst="roundRect">
            <a:avLst>
              <a:gd name="adj" fmla="val 554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8521" y="2982367"/>
            <a:ext cx="4288557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14933" y="3034903"/>
            <a:ext cx="911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萃取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43423" y="3034903"/>
            <a:ext cx="128580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含义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46512" y="3034903"/>
            <a:ext cx="144430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示例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8521" y="3236268"/>
            <a:ext cx="4288557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4933" y="3288804"/>
            <a:ext cx="911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remove_const_t&lt;T&gt;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43423" y="3288804"/>
            <a:ext cx="128580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去掉 const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46512" y="3288804"/>
            <a:ext cx="14443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remove_const_t&lt;const int&gt;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int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08521" y="3638996"/>
            <a:ext cx="4288557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14933" y="3691533"/>
            <a:ext cx="911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remove_reference_t&lt;T&gt;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43423" y="3691533"/>
            <a:ext cx="128580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去掉引用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46512" y="3691533"/>
            <a:ext cx="14443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remove_reference_t&lt;int&amp;&gt;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int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08521" y="4041725"/>
            <a:ext cx="4288557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14933" y="4094262"/>
            <a:ext cx="91120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remove_cvref_t&lt;T&gt;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43423" y="4094262"/>
            <a:ext cx="128580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去掉 const/volatile/引用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46512" y="4094262"/>
            <a:ext cx="144430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remove_cvref_t&lt;const int&amp;&gt;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int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8521" y="4444454"/>
            <a:ext cx="4288557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14933" y="4496991"/>
            <a:ext cx="91120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add_pointer_t&lt;T&gt;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43423" y="4496991"/>
            <a:ext cx="128580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加上指针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46512" y="4496991"/>
            <a:ext cx="144430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add_pointer_t&lt;int&gt;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int*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66011" y="882179"/>
            <a:ext cx="2034332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代码示例：使用 </a:t>
            </a:r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66011" y="1175891"/>
            <a:ext cx="2778919" cy="1700808"/>
          </a:xfrm>
          <a:prstGeom prst="roundRect">
            <a:avLst>
              <a:gd name="adj" fmla="val 5626"/>
            </a:avLst>
          </a:prstGeom>
          <a:solidFill>
            <a:srgbClr val="F2F2F2"/>
          </a:solidFill>
          <a:ln/>
        </p:spPr>
      </p:sp>
      <p:sp>
        <p:nvSpPr>
          <p:cNvPr id="49" name="Shape 47"/>
          <p:cNvSpPr/>
          <p:nvPr/>
        </p:nvSpPr>
        <p:spPr>
          <a:xfrm>
            <a:off x="5460727" y="1175891"/>
            <a:ext cx="2789486" cy="1700808"/>
          </a:xfrm>
          <a:prstGeom prst="roundRect">
            <a:avLst>
              <a:gd name="adj" fmla="val 938"/>
            </a:avLst>
          </a:prstGeom>
          <a:solidFill>
            <a:srgbClr val="F2F2F2"/>
          </a:solidFill>
          <a:ln/>
        </p:spPr>
      </p:sp>
      <p:sp>
        <p:nvSpPr>
          <p:cNvPr id="50" name="Text 48"/>
          <p:cNvSpPr/>
          <p:nvPr/>
        </p:nvSpPr>
        <p:spPr>
          <a:xfrm>
            <a:off x="5593631" y="1282154"/>
            <a:ext cx="2523679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process(T value) {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constexpr (std::is_integral_v&lt;T&gt;) {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std::cout &lt;&lt; "按照整数处理";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constexpr (std::is_floating_point_v&lt;T&gt;) {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std::cout &lt;&lt; "按照浮点数处理";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std::cout &lt;&lt; "按照其他类型处理";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66011" y="2966368"/>
            <a:ext cx="27789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配合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，根据类型走不同编译期分支——未选中分支完全不编译，零开销。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0645"/>
            <a:ext cx="5113288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类型判断的底层机制：传统 vs 现代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10183"/>
            <a:ext cx="224909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早期（模板偏特化 + SFINAE）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349" y="1434778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图示：简化代码，枚举所有整数类型逐一特化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349" y="1771129"/>
            <a:ext cx="3955256" cy="1265560"/>
          </a:xfrm>
          <a:prstGeom prst="roundRect">
            <a:avLst>
              <a:gd name="adj" fmla="val 929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50875" y="1771129"/>
            <a:ext cx="3968204" cy="1265560"/>
          </a:xfrm>
          <a:prstGeom prst="roundRect">
            <a:avLst>
              <a:gd name="adj" fmla="val 1549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14214" y="1901800"/>
            <a:ext cx="3641527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 struct is_integral : false_type {};
template&lt;&gt; struct is_integral&lt;int&gt; : true_type {};
template&lt;&gt; struct is_integral&lt;char&gt; : true_type {};
// ... 枚举所有整数类型
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70893" y="3172197"/>
            <a:ext cx="992609" cy="239018"/>
          </a:xfrm>
          <a:prstGeom prst="roundRect">
            <a:avLst>
              <a:gd name="adj" fmla="val 39369"/>
            </a:avLst>
          </a:prstGeom>
          <a:solidFill>
            <a:srgbClr val="FFD7CC"/>
          </a:solidFill>
          <a:ln/>
        </p:spPr>
      </p:sp>
      <p:sp>
        <p:nvSpPr>
          <p:cNvPr id="9" name="Text 7"/>
          <p:cNvSpPr/>
          <p:nvPr/>
        </p:nvSpPr>
        <p:spPr>
          <a:xfrm>
            <a:off x="1749251" y="3211339"/>
            <a:ext cx="8358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模板实例化开销大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28838" y="3172197"/>
            <a:ext cx="470222" cy="239018"/>
          </a:xfrm>
          <a:prstGeom prst="roundRect">
            <a:avLst>
              <a:gd name="adj" fmla="val 39369"/>
            </a:avLst>
          </a:prstGeom>
          <a:solidFill>
            <a:srgbClr val="FFD7CC"/>
          </a:solidFill>
          <a:ln/>
        </p:spPr>
      </p:sp>
      <p:sp>
        <p:nvSpPr>
          <p:cNvPr id="11" name="Text 9"/>
          <p:cNvSpPr/>
          <p:nvPr/>
        </p:nvSpPr>
        <p:spPr>
          <a:xfrm>
            <a:off x="2807196" y="3211339"/>
            <a:ext cx="31350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速度慢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36157" y="1110183"/>
            <a:ext cx="21237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现代（编译器内建 intrinsic）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36157" y="1434778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图示：libc++ 源码片段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157" y="1771129"/>
            <a:ext cx="3955256" cy="1265560"/>
          </a:xfrm>
          <a:prstGeom prst="roundRect">
            <a:avLst>
              <a:gd name="adj" fmla="val 9294"/>
            </a:avLst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29683" y="1771129"/>
            <a:ext cx="3968204" cy="1265560"/>
          </a:xfrm>
          <a:prstGeom prst="roundRect">
            <a:avLst>
              <a:gd name="adj" fmla="val 1549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3022" y="1901800"/>
            <a:ext cx="3641527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Apple Clang libc++ 源码
template &lt;class _Tp&gt;
inline constexpr bool is_integral_v =
    __is_integral(_Tp);  // 编译器内建 intrinsic
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157" y="3172197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优势：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157" y="3580433"/>
            <a:ext cx="65336" cy="65336"/>
          </a:xfrm>
          <a:prstGeom prst="roundRect">
            <a:avLst>
              <a:gd name="adj" fmla="val 437355"/>
            </a:avLst>
          </a:prstGeom>
          <a:solidFill>
            <a:srgbClr val="FF7047"/>
          </a:solidFill>
          <a:ln/>
        </p:spPr>
      </p:sp>
      <p:sp>
        <p:nvSpPr>
          <p:cNvPr id="19" name="Text 17"/>
          <p:cNvSpPr/>
          <p:nvPr/>
        </p:nvSpPr>
        <p:spPr>
          <a:xfrm>
            <a:off x="4921969" y="3508549"/>
            <a:ext cx="3769444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编译速度更快（无需模板实例化）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157" y="4026991"/>
            <a:ext cx="65336" cy="65336"/>
          </a:xfrm>
          <a:prstGeom prst="roundRect">
            <a:avLst>
              <a:gd name="adj" fmla="val 437355"/>
            </a:avLst>
          </a:prstGeom>
          <a:solidFill>
            <a:srgbClr val="FF7047"/>
          </a:solidFill>
          <a:ln/>
        </p:spPr>
      </p:sp>
      <p:sp>
        <p:nvSpPr>
          <p:cNvPr id="21" name="Text 19"/>
          <p:cNvSpPr/>
          <p:nvPr/>
        </p:nvSpPr>
        <p:spPr>
          <a:xfrm>
            <a:off x="4921969" y="3955107"/>
            <a:ext cx="3769444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错误信息更清晰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6157" y="4473550"/>
            <a:ext cx="65336" cy="65336"/>
          </a:xfrm>
          <a:prstGeom prst="roundRect">
            <a:avLst>
              <a:gd name="adj" fmla="val 437355"/>
            </a:avLst>
          </a:prstGeom>
          <a:solidFill>
            <a:srgbClr val="FF7047"/>
          </a:solidFill>
          <a:ln/>
        </p:spPr>
      </p:sp>
      <p:sp>
        <p:nvSpPr>
          <p:cNvPr id="23" name="Text 21"/>
          <p:cNvSpPr/>
          <p:nvPr/>
        </p:nvSpPr>
        <p:spPr>
          <a:xfrm>
            <a:off x="4921969" y="4401666"/>
            <a:ext cx="3769444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编译器可做更深入优化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17748"/>
            <a:ext cx="312271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实战：传感器数据统一处理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80182" y="795933"/>
            <a:ext cx="7183562" cy="2952527"/>
          </a:xfrm>
          <a:prstGeom prst="roundRect">
            <a:avLst>
              <a:gd name="adj" fmla="val 317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75047" y="795933"/>
            <a:ext cx="7193831" cy="2952527"/>
          </a:xfrm>
          <a:prstGeom prst="roundRect">
            <a:avLst>
              <a:gd name="adj" fmla="val 52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1105123" y="900038"/>
            <a:ext cx="6933679" cy="27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SensorSample {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RawType = std::remove_cvref_t&lt;T&gt;;  // 统一成裸类型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explicit SensorSample(T&amp;&amp; value)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data_(std::forward&lt;T&gt;(value)) {}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std::variant&lt;int, double, std::string&gt; to_variant() const {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constexpr (std::is_same_v&lt;RawType, int&gt;)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static_cast&lt;int&gt;(data_);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constexpr (std::is_same_v&lt;RawType, double&gt;)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static_cast&lt;double&gt;(data_);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constexpr (std::is_same_v&lt;RawType, std::string&gt;)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data_;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RawType data_;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80182" y="3834408"/>
            <a:ext cx="71835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使用示例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80182" y="4064794"/>
            <a:ext cx="7183562" cy="497086"/>
          </a:xfrm>
          <a:prstGeom prst="roundRect">
            <a:avLst>
              <a:gd name="adj" fmla="val 18850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975047" y="4064794"/>
            <a:ext cx="7193831" cy="497086"/>
          </a:xfrm>
          <a:prstGeom prst="roundRect">
            <a:avLst>
              <a:gd name="adj" fmla="val 314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105123" y="4168899"/>
            <a:ext cx="693367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SensorSample sample1(42);             // T 推导为 int</a:t>
            </a:r>
            <a:endParaRPr lang="en-US" sz="8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SensorSample sample2(std::cref(3.5)); // T 推导为 const double&amp;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80182" y="4647828"/>
            <a:ext cx="2470472" cy="177850"/>
          </a:xfrm>
          <a:prstGeom prst="roundRect">
            <a:avLst>
              <a:gd name="adj" fmla="val 42148"/>
            </a:avLst>
          </a:prstGeom>
          <a:solidFill>
            <a:srgbClr val="FFD7CC"/>
          </a:solidFill>
          <a:ln/>
        </p:spPr>
      </p:sp>
      <p:sp>
        <p:nvSpPr>
          <p:cNvPr id="11" name="Text 9"/>
          <p:cNvSpPr/>
          <p:nvPr/>
        </p:nvSpPr>
        <p:spPr>
          <a:xfrm>
            <a:off x="1042615" y="4679007"/>
            <a:ext cx="234560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REMOVE_CVREF_T → 不管 T / CONST T&amp; / T&amp;&amp;，统一成裸类型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3502670" y="4647828"/>
            <a:ext cx="1463129" cy="177850"/>
          </a:xfrm>
          <a:prstGeom prst="roundRect">
            <a:avLst>
              <a:gd name="adj" fmla="val 42148"/>
            </a:avLst>
          </a:prstGeom>
          <a:solidFill>
            <a:srgbClr val="FFD7C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5103" y="4679007"/>
            <a:ext cx="133826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CONSTEXPR → 编译期分支零开销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4898" y="375419"/>
            <a:ext cx="5054129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Concept登场——模板约束的现代化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39788"/>
            <a:ext cx="39760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传统 SFINAE (Substitution Failure Is Not Is Error)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357238"/>
            <a:ext cx="3976092" cy="1398091"/>
          </a:xfrm>
          <a:prstGeom prst="roundRect">
            <a:avLst>
              <a:gd name="adj" fmla="val 8128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35620" y="1357238"/>
            <a:ext cx="3988594" cy="1398091"/>
          </a:xfrm>
          <a:prstGeom prst="roundRect">
            <a:avLst>
              <a:gd name="adj" fmla="val 135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3378" y="1483444"/>
            <a:ext cx="3673078" cy="11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古老的 SFINAE 写法——返回类型里塞了一堆逻辑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 std::enable_if&lt;std::is_integral&lt;T&gt;::value, T&gt;::type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process(T value) {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 * 2;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94594" y="2881833"/>
            <a:ext cx="801960" cy="233214"/>
          </a:xfrm>
          <a:prstGeom prst="roundRect">
            <a:avLst>
              <a:gd name="adj" fmla="val 38981"/>
            </a:avLst>
          </a:prstGeom>
          <a:solidFill>
            <a:srgbClr val="FFD7CC"/>
          </a:solidFill>
          <a:ln/>
        </p:spPr>
      </p:sp>
      <p:sp>
        <p:nvSpPr>
          <p:cNvPr id="8" name="Text 6"/>
          <p:cNvSpPr/>
          <p:nvPr/>
        </p:nvSpPr>
        <p:spPr>
          <a:xfrm>
            <a:off x="1470347" y="2919710"/>
            <a:ext cx="65045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可读性极差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59657" y="2881833"/>
            <a:ext cx="1205582" cy="233214"/>
          </a:xfrm>
          <a:prstGeom prst="roundRect">
            <a:avLst>
              <a:gd name="adj" fmla="val 38981"/>
            </a:avLst>
          </a:prstGeom>
          <a:solidFill>
            <a:srgbClr val="FFD7CC"/>
          </a:solidFill>
          <a:ln/>
        </p:spPr>
      </p:sp>
      <p:sp>
        <p:nvSpPr>
          <p:cNvPr id="10" name="Text 8"/>
          <p:cNvSpPr/>
          <p:nvPr/>
        </p:nvSpPr>
        <p:spPr>
          <a:xfrm>
            <a:off x="2335411" y="2919710"/>
            <a:ext cx="105407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❌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错误信息是模板噪音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30800" y="1039788"/>
            <a:ext cx="397609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C++20 Concept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0800" y="1357238"/>
            <a:ext cx="3976092" cy="1779984"/>
          </a:xfrm>
          <a:prstGeom prst="roundRect">
            <a:avLst>
              <a:gd name="adj" fmla="val 6384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4549" y="1357238"/>
            <a:ext cx="3988594" cy="1779984"/>
          </a:xfrm>
          <a:prstGeom prst="roundRect">
            <a:avLst>
              <a:gd name="adj" fmla="val 106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307" y="1483444"/>
            <a:ext cx="3673078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// Concept——意图一目了然
template &lt;std::integral T&gt;
T process(T value) {
    return value * 2;
}
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04123" y="3263726"/>
            <a:ext cx="499244" cy="233214"/>
          </a:xfrm>
          <a:prstGeom prst="roundRect">
            <a:avLst>
              <a:gd name="adj" fmla="val 38981"/>
            </a:avLst>
          </a:prstGeom>
          <a:solidFill>
            <a:srgbClr val="FFD7CC"/>
          </a:solidFill>
          <a:ln/>
        </p:spPr>
      </p:sp>
      <p:sp>
        <p:nvSpPr>
          <p:cNvPr id="16" name="Text 14"/>
          <p:cNvSpPr/>
          <p:nvPr/>
        </p:nvSpPr>
        <p:spPr>
          <a:xfrm>
            <a:off x="5679877" y="3301603"/>
            <a:ext cx="34773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简洁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66470" y="3263726"/>
            <a:ext cx="701055" cy="233214"/>
          </a:xfrm>
          <a:prstGeom prst="roundRect">
            <a:avLst>
              <a:gd name="adj" fmla="val 38981"/>
            </a:avLst>
          </a:prstGeom>
          <a:solidFill>
            <a:srgbClr val="FFD7CC"/>
          </a:solidFill>
          <a:ln/>
        </p:spPr>
      </p:sp>
      <p:sp>
        <p:nvSpPr>
          <p:cNvPr id="18" name="Text 16"/>
          <p:cNvSpPr/>
          <p:nvPr/>
        </p:nvSpPr>
        <p:spPr>
          <a:xfrm>
            <a:off x="6242224" y="3301603"/>
            <a:ext cx="54954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意图清晰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30628" y="3263726"/>
            <a:ext cx="902866" cy="233214"/>
          </a:xfrm>
          <a:prstGeom prst="roundRect">
            <a:avLst>
              <a:gd name="adj" fmla="val 38981"/>
            </a:avLst>
          </a:prstGeom>
          <a:solidFill>
            <a:srgbClr val="FFD7CC"/>
          </a:solidFill>
          <a:ln/>
        </p:spPr>
      </p:sp>
      <p:sp>
        <p:nvSpPr>
          <p:cNvPr id="20" name="Text 18"/>
          <p:cNvSpPr/>
          <p:nvPr/>
        </p:nvSpPr>
        <p:spPr>
          <a:xfrm>
            <a:off x="7006382" y="3301603"/>
            <a:ext cx="75135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错误信息友好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09417" y="3792066"/>
            <a:ext cx="2525167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31254" y="4402782"/>
            <a:ext cx="807087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 是一种</a:t>
            </a:r>
            <a:pPr algn="l" indent="0" marL="0">
              <a:lnSpc>
                <a:spcPts val="185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命名了的编译期谓词</a:t>
            </a:r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，用来约束模板参数必须满足的条件，从"密文"变成了"说明书"。       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1871" y="4276279"/>
            <a:ext cx="14288" cy="491728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8388" y="478110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 Concept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27447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C++20 标准库提供了大量现成的 Concept，如 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std::integral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、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std::floating_point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、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std::same_as</a:t>
            </a:r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等。直接用它们约束模板，三种语法都可以：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599307"/>
            <a:ext cx="2502024" cy="2272903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2307" y="1744266"/>
            <a:ext cx="221210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语法1：concept 作为类型约束（最简洁）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2307" y="2288009"/>
            <a:ext cx="2212107" cy="1064716"/>
          </a:xfrm>
          <a:prstGeom prst="roundRect">
            <a:avLst>
              <a:gd name="adj" fmla="val 11047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595833" y="2288009"/>
            <a:ext cx="2225055" cy="1064716"/>
          </a:xfrm>
          <a:prstGeom prst="roundRect">
            <a:avLst>
              <a:gd name="adj" fmla="val 184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759172" y="2418680"/>
            <a:ext cx="189837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&lt;std::integral 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double_value(T x) {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2;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2307" y="3488234"/>
            <a:ext cx="516731" cy="239018"/>
          </a:xfrm>
          <a:prstGeom prst="roundRect">
            <a:avLst>
              <a:gd name="adj" fmla="val 39369"/>
            </a:avLst>
          </a:prstGeom>
          <a:solidFill>
            <a:srgbClr val="FFD7CC"/>
          </a:solidFill>
          <a:ln/>
        </p:spPr>
      </p:sp>
      <p:sp>
        <p:nvSpPr>
          <p:cNvPr id="10" name="Text 8"/>
          <p:cNvSpPr/>
          <p:nvPr/>
        </p:nvSpPr>
        <p:spPr>
          <a:xfrm>
            <a:off x="680665" y="3527375"/>
            <a:ext cx="36001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推荐 </a:t>
            </a:r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82925" y="1599307"/>
            <a:ext cx="2502024" cy="2236217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7884" y="1744266"/>
            <a:ext cx="1633612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语法2：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子句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27884" y="2088654"/>
            <a:ext cx="2212107" cy="1265560"/>
          </a:xfrm>
          <a:prstGeom prst="roundRect">
            <a:avLst>
              <a:gd name="adj" fmla="val 9294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1410" y="2088654"/>
            <a:ext cx="2225055" cy="1265560"/>
          </a:xfrm>
          <a:prstGeom prst="roundRect">
            <a:avLst>
              <a:gd name="adj" fmla="val 1549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749" y="2219325"/>
            <a:ext cx="1898377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std::integral&lt;T&gt;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 double_value(T x) {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2;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7884" y="3489722"/>
            <a:ext cx="221210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502" y="1599307"/>
            <a:ext cx="2587526" cy="2236217"/>
          </a:xfrm>
          <a:prstGeom prst="roundRect">
            <a:avLst>
              <a:gd name="adj" fmla="val 5260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3460" y="1744266"/>
            <a:ext cx="1633612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语法3：尾部 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3460" y="2088654"/>
            <a:ext cx="2297609" cy="1265560"/>
          </a:xfrm>
          <a:prstGeom prst="roundRect">
            <a:avLst>
              <a:gd name="adj" fmla="val 9294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6986" y="2088654"/>
            <a:ext cx="2310557" cy="1265560"/>
          </a:xfrm>
          <a:prstGeom prst="roundRect">
            <a:avLst>
              <a:gd name="adj" fmla="val 1549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10325" y="2219325"/>
            <a:ext cx="1983879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 triple(T x) 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std::integral&lt;T&gt; {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 3;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53460" y="3489722"/>
            <a:ext cx="229760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355" y="4278734"/>
            <a:ext cx="8033296" cy="251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 让模板约束从"隐式魔法"变成"显式声明"，代码意图一目了然。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349" y="4143226"/>
            <a:ext cx="14288" cy="522089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8388" y="395957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定义 Concept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45294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标准库 Concept 覆盖了常见场景，但特定需求还需要自己定义。自定义 Concept 有两种方式：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3061" y="1517154"/>
            <a:ext cx="3983831" cy="2857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5" name="Text 3"/>
          <p:cNvSpPr/>
          <p:nvPr/>
        </p:nvSpPr>
        <p:spPr>
          <a:xfrm>
            <a:off x="457349" y="1676400"/>
            <a:ext cx="179985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方式一：组合 type traits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349" y="2000994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通过逻辑运算符组合现有 type traits，简洁直接。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349" y="2337346"/>
            <a:ext cx="3955256" cy="863873"/>
          </a:xfrm>
          <a:prstGeom prst="roundRect">
            <a:avLst>
              <a:gd name="adj" fmla="val 13616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0875" y="2337346"/>
            <a:ext cx="3968204" cy="863873"/>
          </a:xfrm>
          <a:prstGeom prst="roundRect">
            <a:avLst>
              <a:gd name="adj" fmla="val 226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14214" y="2468017"/>
            <a:ext cx="3641527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Numeric = std::is_integral_v&lt;T&gt; || std::is_floating_point_v&lt;T&gt;;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1870" y="1517154"/>
            <a:ext cx="3983831" cy="2857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1" name="Text 9"/>
          <p:cNvSpPr/>
          <p:nvPr/>
        </p:nvSpPr>
        <p:spPr>
          <a:xfrm>
            <a:off x="4736157" y="1676400"/>
            <a:ext cx="181972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方式二：requires 表达式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157" y="2000994"/>
            <a:ext cx="395525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requires 表达式内部可以写多项检查，全部满足才通过：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36157" y="2337346"/>
            <a:ext cx="3955256" cy="1667247"/>
          </a:xfrm>
          <a:prstGeom prst="roundRect">
            <a:avLst>
              <a:gd name="adj" fmla="val 7055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29683" y="2337346"/>
            <a:ext cx="3968204" cy="1667247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3022" y="2468017"/>
            <a:ext cx="3641527" cy="14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T&gt;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Regular = requires(T a, T b, T c) {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T{a};    // 拷贝构造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b;   // 拷贝赋值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 == b;  // 相等比较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a != b;  // 不相等比较</a:t>
            </a:r>
            <a:endParaRPr lang="en-US" sz="100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2863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355" y="4411117"/>
            <a:ext cx="80332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无论哪种方式，自定义 Concept 都让泛型代码的意图更加明确，并提供更友好的编译错误信息。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349" y="4275609"/>
            <a:ext cx="14288" cy="471860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04577"/>
            <a:ext cx="387555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实战：让编译器帮你选最优算法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2053754" y="780455"/>
            <a:ext cx="1383209" cy="192658"/>
          </a:xfrm>
          <a:prstGeom prst="roundRect">
            <a:avLst>
              <a:gd name="adj" fmla="val 41392"/>
            </a:avLst>
          </a:prstGeom>
          <a:solidFill>
            <a:srgbClr val="FFD7C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0205" y="832470"/>
            <a:ext cx="88553" cy="88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53035" y="813643"/>
            <a:ext cx="1117476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一套接口：统一调用 SORT()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3492326" y="780455"/>
            <a:ext cx="2125414" cy="192658"/>
          </a:xfrm>
          <a:prstGeom prst="roundRect">
            <a:avLst>
              <a:gd name="adj" fmla="val 41392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8778" y="832470"/>
            <a:ext cx="88553" cy="885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91607" y="813643"/>
            <a:ext cx="185968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自动适配：编译器根据迭代器能力选择最优实现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5673105" y="780455"/>
            <a:ext cx="1416993" cy="192658"/>
          </a:xfrm>
          <a:prstGeom prst="roundRect">
            <a:avLst>
              <a:gd name="adj" fmla="val 41392"/>
            </a:avLst>
          </a:prstGeom>
          <a:solidFill>
            <a:srgbClr val="FFD7C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9557" y="832470"/>
            <a:ext cx="88553" cy="885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72386" y="813643"/>
            <a:ext cx="1151260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零运行时开销：纯编译期决策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750912" y="115691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代码示例：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50912" y="1427262"/>
            <a:ext cx="5426646" cy="3218855"/>
          </a:xfrm>
          <a:prstGeom prst="roundRect">
            <a:avLst>
              <a:gd name="adj" fmla="val 3097"/>
            </a:avLst>
          </a:prstGeom>
          <a:solidFill>
            <a:srgbClr val="F2F2F2"/>
          </a:solidFill>
          <a:ln/>
        </p:spPr>
      </p:sp>
      <p:sp>
        <p:nvSpPr>
          <p:cNvPr id="14" name="Shape 9"/>
          <p:cNvSpPr/>
          <p:nvPr/>
        </p:nvSpPr>
        <p:spPr>
          <a:xfrm>
            <a:off x="745406" y="1427262"/>
            <a:ext cx="5437659" cy="3218855"/>
          </a:xfrm>
          <a:prstGeom prst="roundRect">
            <a:avLst>
              <a:gd name="adj" fmla="val 516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883816" y="1537990"/>
            <a:ext cx="5160838" cy="2997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前向迭代器版本（适用于 list）→ 插入/归并排序
template&lt;std::forward_iterator Iter&gt;
void sort(Iter first, Iter last) {
    std::cout &lt;&lt; "forward_iterator sort (insertion/merge)";
}
// 随机访问迭代器版本（适用于 vector）→ 快速/堆排序
template&lt;std::random_access_iterator Iter&gt;
void sort(Iter first, Iter last) {
    std::cout &lt;&lt; "random_access sort (quick/heap)";
}
// 调用示例
std::list&lt;int&gt; my_list = {3, 1, 4, 1, 5, 9};
std::vector&lt;int&gt; my_vector = {2, 7, 1, 8, 2, 8};
sort(my_list.begin(), my_list.end());     // → forward version
sort(my_vector.begin(), my_vector.end()); // → random_access version
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452443" y="1156915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运行结果：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38156" y="1412974"/>
            <a:ext cx="28575" cy="579686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8" name="Text 13"/>
          <p:cNvSpPr/>
          <p:nvPr/>
        </p:nvSpPr>
        <p:spPr>
          <a:xfrm>
            <a:off x="6591746" y="1427262"/>
            <a:ext cx="18059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std::list&lt;int&gt;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591746" y="1662857"/>
            <a:ext cx="18059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sort() → forward_iterator sort（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归并排序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）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438156" y="2137097"/>
            <a:ext cx="28575" cy="579686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1" name="Text 16"/>
          <p:cNvSpPr/>
          <p:nvPr/>
        </p:nvSpPr>
        <p:spPr>
          <a:xfrm>
            <a:off x="6591746" y="2151385"/>
            <a:ext cx="18059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std::vector&lt;int&gt;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91746" y="2386980"/>
            <a:ext cx="180595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sort() → random_access sort（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快速排序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）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0451"/>
            <a:ext cx="7036371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的蕴含关系——约束越严格，匹配越优先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66056"/>
            <a:ext cx="1893912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代码示例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41871" y="1429271"/>
            <a:ext cx="4832896" cy="1779984"/>
          </a:xfrm>
          <a:prstGeom prst="roundRect">
            <a:avLst>
              <a:gd name="adj" fmla="val 638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35620" y="1429271"/>
            <a:ext cx="4845397" cy="1779984"/>
          </a:xfrm>
          <a:prstGeom prst="roundRect">
            <a:avLst>
              <a:gd name="adj" fmla="val 106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93378" y="1555477"/>
            <a:ext cx="4529882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template&lt;std::integral T&gt;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process(T);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template&lt;std::signed_integral T&gt;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process(T);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process(42);    // 调用 signed_integral 版本（约束更严格）</a:t>
            </a:r>
            <a:endParaRPr lang="en-US" sz="9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process(42u);   // 调用 integral 版本（有符号不匹配）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31254" y="3335759"/>
            <a:ext cx="464351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约束严格程度决定调用哪个版本——编译器自动选择最匹配（最严格）的重载。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1871" y="3335759"/>
            <a:ext cx="14288" cy="190946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5587603" y="1066056"/>
            <a:ext cx="2311971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蕴含关系（Subsumption）</a:t>
            </a:r>
            <a:endParaRPr lang="en-US" sz="14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2525" y="1429271"/>
            <a:ext cx="1029295" cy="34810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58397" y="1531813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878" y="1808931"/>
            <a:ext cx="2058665" cy="3481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8397" y="1872035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230" y="2188592"/>
            <a:ext cx="3087960" cy="34810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58397" y="2251695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587603" y="2662907"/>
            <a:ext cx="252487" cy="252487"/>
          </a:xfrm>
          <a:prstGeom prst="roundRect">
            <a:avLst>
              <a:gd name="adj" fmla="val 45006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634930" y="2690478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52530" y="269051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signed_integral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952530" y="3000226"/>
            <a:ext cx="27542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有符号整数：int, short, long...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587603" y="3380556"/>
            <a:ext cx="252487" cy="252487"/>
          </a:xfrm>
          <a:prstGeom prst="roundRect">
            <a:avLst>
              <a:gd name="adj" fmla="val 45006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34930" y="3408127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952530" y="340816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952530" y="3717875"/>
            <a:ext cx="27542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所有整数：含 unsigned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587603" y="4098206"/>
            <a:ext cx="252487" cy="252487"/>
          </a:xfrm>
          <a:prstGeom prst="roundRect">
            <a:avLst>
              <a:gd name="adj" fmla="val 45006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634930" y="4125776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952530" y="412581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arithmetic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952530" y="4435525"/>
            <a:ext cx="27542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整数 + 浮点数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5132" y="399231"/>
            <a:ext cx="33226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94162" y="1125959"/>
            <a:ext cx="204274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类型萃取 (Type Traits)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894162" y="1499667"/>
            <a:ext cx="2230264" cy="97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让编译期"看见"类型的特性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为模板选择不同的处理逻辑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对类型进行抽取、变换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实现零开销静态多态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53336" y="1125959"/>
            <a:ext cx="19935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53336" y="1499667"/>
            <a:ext cx="2230264" cy="97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让模板约束从隐式变显式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大幅改善错误信息质量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约束即文档，提升代码可读性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C++20 最重要的新特性之一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94162" y="2690366"/>
            <a:ext cx="4784675" cy="989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93518" y="3013695"/>
            <a:ext cx="4585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类型萃取在编译期获得类型特性，抽取、变换类型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93518" y="3359795"/>
            <a:ext cx="4585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 在编译期约束模板参数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093518" y="3705895"/>
            <a:ext cx="4585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两者合在一起，让 C++ 在编译期拥有类型掌控能力——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93518" y="4051995"/>
            <a:ext cx="4585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不需要耗费运行期的一个字节、一个时钟周期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93518" y="4398094"/>
            <a:ext cx="4585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这正是零开销抽象哲学的实践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94162" y="2873573"/>
            <a:ext cx="14288" cy="1870621"/>
          </a:xfrm>
          <a:prstGeom prst="rect">
            <a:avLst/>
          </a:prstGeom>
          <a:solidFill>
            <a:srgbClr val="FF704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1190030"/>
            <a:ext cx="48909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谢谢大家</a:t>
            </a:r>
            <a:endParaRPr lang="en-US" sz="3850" dirty="0"/>
          </a:p>
        </p:txBody>
      </p:sp>
      <p:sp>
        <p:nvSpPr>
          <p:cNvPr id="5" name="Shape 2"/>
          <p:cNvSpPr/>
          <p:nvPr/>
        </p:nvSpPr>
        <p:spPr>
          <a:xfrm>
            <a:off x="496119" y="2014017"/>
            <a:ext cx="8151763" cy="1166813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905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927" y="21748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下期预告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481337"/>
            <a:ext cx="7830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C++20 Ranges 与算法革命——用组合式思维写代码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927" y="2793206"/>
            <a:ext cx="7830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我们将探讨 C++20 Ranges 如何改造标准库算法，让函数式编程风格与现代 C++ 完美融合。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34029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 示例代码：</a:t>
            </a:r>
            <a:pPr algn="l" indent="0" marL="0">
              <a:lnSpc>
                <a:spcPts val="1750"/>
              </a:lnSpc>
              <a:buNone/>
            </a:pPr>
            <a:r>
              <a:rPr lang="en-US" sz="1100" u="sng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https://github.com/Alex-Cheng/qianxin_cpp/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72658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系列名：现代C++的发展道路 · 从哲学到实践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2026-05-10T14:43:34Z</dcterms:created>
  <dcterms:modified xsi:type="dcterms:W3CDTF">2026-05-10T14:43:34Z</dcterms:modified>
</cp:coreProperties>
</file>